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6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EB1D81-EA91-4618-9A6D-4DDD546D5D8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0A83B7-FA9F-46A8-A4D7-5C0859BC6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5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0A83B7-FA9F-46A8-A4D7-5C0859BC686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298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13232" y="594360"/>
            <a:ext cx="1508760" cy="274320"/>
          </a:xfrm>
          <a:prstGeom prst="roundRect">
            <a:avLst>
              <a:gd name="adj" fmla="val 12000"/>
            </a:avLst>
          </a:prstGeom>
          <a:solidFill>
            <a:srgbClr val="1F354F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8096" y="626364"/>
            <a:ext cx="1399031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DCDB8"/>
                </a:solidFill>
                <a:latin typeface="Aptos"/>
              </a:rPr>
              <a:t>GROUP COURSEWORK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70432"/>
            <a:ext cx="77724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5F8FC"/>
                </a:solidFill>
                <a:latin typeface="Aptos"/>
              </a:rPr>
              <a:t>Library Borrowing
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" y="2743200"/>
            <a:ext cx="7114033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dirty="0">
                <a:solidFill>
                  <a:srgbClr val="2DCDB8"/>
                </a:solidFill>
                <a:latin typeface="Aptos"/>
              </a:rPr>
              <a:t>Domain-Driven Design </a:t>
            </a:r>
            <a:r>
              <a:rPr lang="en-US" sz="1600" b="1" dirty="0" smtClean="0">
                <a:solidFill>
                  <a:srgbClr val="2DCDB8"/>
                </a:solidFill>
                <a:latin typeface="Aptos"/>
              </a:rPr>
              <a:t>,</a:t>
            </a:r>
            <a:r>
              <a:rPr sz="1600" b="1" dirty="0" smtClean="0">
                <a:solidFill>
                  <a:srgbClr val="2DCDB8"/>
                </a:solidFill>
                <a:latin typeface="Aptos"/>
              </a:rPr>
              <a:t>  </a:t>
            </a:r>
            <a:r>
              <a:rPr sz="1600" b="1" dirty="0">
                <a:solidFill>
                  <a:srgbClr val="2DCDB8"/>
                </a:solidFill>
                <a:latin typeface="Aptos"/>
              </a:rPr>
              <a:t>Test-Driven Development  </a:t>
            </a:r>
            <a:r>
              <a:rPr lang="en-US" sz="1600" b="1" dirty="0" smtClean="0">
                <a:solidFill>
                  <a:srgbClr val="2DCDB8"/>
                </a:solidFill>
                <a:latin typeface="Aptos"/>
              </a:rPr>
              <a:t>&amp;</a:t>
            </a:r>
            <a:r>
              <a:rPr sz="1600" b="1" dirty="0" smtClean="0">
                <a:solidFill>
                  <a:srgbClr val="2DCDB8"/>
                </a:solidFill>
                <a:latin typeface="Aptos"/>
              </a:rPr>
              <a:t> Clean </a:t>
            </a:r>
            <a:r>
              <a:rPr lang="en-US" sz="1600" b="1" dirty="0" smtClean="0">
                <a:solidFill>
                  <a:srgbClr val="2DCDB8"/>
                </a:solidFill>
                <a:latin typeface="Aptos"/>
              </a:rPr>
              <a:t> </a:t>
            </a:r>
            <a:r>
              <a:rPr sz="1600" b="1" dirty="0" smtClean="0">
                <a:solidFill>
                  <a:srgbClr val="2DCDB8"/>
                </a:solidFill>
                <a:latin typeface="Aptos"/>
              </a:rPr>
              <a:t>Architecture</a:t>
            </a:r>
            <a:endParaRPr sz="1600" b="1" dirty="0">
              <a:solidFill>
                <a:srgbClr val="2DCDB8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7" y="3364992"/>
            <a:ext cx="6069633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dirty="0">
                <a:solidFill>
                  <a:srgbClr val="B1C0D3"/>
                </a:solidFill>
                <a:latin typeface="Aptos"/>
              </a:rPr>
              <a:t>Two connected use cases: </a:t>
            </a:r>
            <a:r>
              <a:rPr sz="1500" b="1" dirty="0">
                <a:solidFill>
                  <a:srgbClr val="B1C0D3"/>
                </a:solidFill>
                <a:latin typeface="Aptos"/>
              </a:rPr>
              <a:t>borrowing a book </a:t>
            </a:r>
            <a:r>
              <a:rPr sz="1500" b="0" dirty="0">
                <a:solidFill>
                  <a:srgbClr val="B1C0D3"/>
                </a:solidFill>
                <a:latin typeface="Aptos"/>
              </a:rPr>
              <a:t>and </a:t>
            </a:r>
            <a:r>
              <a:rPr sz="1500" b="1" dirty="0">
                <a:solidFill>
                  <a:srgbClr val="B1C0D3"/>
                </a:solidFill>
                <a:latin typeface="Aptos"/>
              </a:rPr>
              <a:t>returning a book</a:t>
            </a:r>
            <a:r>
              <a:rPr sz="1500" b="0" dirty="0">
                <a:solidFill>
                  <a:srgbClr val="B1C0D3"/>
                </a:solidFill>
                <a:latin typeface="Aptos"/>
              </a:rPr>
              <a:t>.
Persistence: in-memory.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713232"/>
            <a:ext cx="3383280" cy="4498848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30768" y="941832"/>
            <a:ext cx="28346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BE5C"/>
                </a:solidFill>
                <a:latin typeface="Aptos"/>
              </a:rPr>
              <a:t>GROUP MEMBERS &amp; 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481328"/>
            <a:ext cx="281635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Keith Paul Kato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8" y="1728216"/>
            <a:ext cx="12344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1C0D3"/>
                </a:solidFill>
                <a:latin typeface="Aptos"/>
              </a:rPr>
              <a:t>24/U/26593/EVE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1709928"/>
            <a:ext cx="157276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DCDB8"/>
                </a:solidFill>
                <a:latin typeface="Aptos"/>
              </a:rPr>
              <a:t>Domain Lead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286000"/>
            <a:ext cx="281635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Elizabeth Ageno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2532888"/>
            <a:ext cx="12344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dirty="0">
                <a:solidFill>
                  <a:srgbClr val="B1C0D3"/>
                </a:solidFill>
                <a:latin typeface="Aptos"/>
              </a:rPr>
              <a:t>24/U/25850/PS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514600"/>
            <a:ext cx="157276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2DCDB8"/>
                </a:solidFill>
                <a:latin typeface="Aptos"/>
              </a:rPr>
              <a:t>Domain Model 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090672"/>
            <a:ext cx="281635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Joanita Kewoda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3337560"/>
            <a:ext cx="12344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1C0D3"/>
                </a:solidFill>
                <a:latin typeface="Aptos"/>
              </a:rPr>
              <a:t>24/U/05727/EVE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3319272"/>
            <a:ext cx="157276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DCDB8"/>
                </a:solidFill>
                <a:latin typeface="Aptos"/>
              </a:rPr>
              <a:t>Architecture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3895344"/>
            <a:ext cx="281635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Mathias Atugonza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4142231"/>
            <a:ext cx="12344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1C0D3"/>
                </a:solidFill>
                <a:latin typeface="Aptos"/>
              </a:rPr>
              <a:t>24/U/0273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4123944"/>
            <a:ext cx="157276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DCDB8"/>
                </a:solidFill>
                <a:latin typeface="Aptos"/>
              </a:rPr>
              <a:t>Testing + Integration Lead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7315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B1C0D3"/>
                </a:solidFill>
                <a:latin typeface="Aptos"/>
              </a:rPr>
              <a:t>MAKERERE UNIVERSITY  |  SCHOOL OF COMPUTING AND INFORMATICS TECHNOLOGY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37376"/>
            <a:ext cx="56692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2DCDB8"/>
                </a:solidFill>
                <a:latin typeface="Aptos"/>
              </a:rPr>
              <a:t>01 / 15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6364224"/>
            <a:ext cx="11109960" cy="0"/>
          </a:xfrm>
          <a:prstGeom prst="line">
            <a:avLst/>
          </a:prstGeom>
          <a:ln w="10160">
            <a:solidFill>
              <a:srgbClr val="1F3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Problem, scope &amp; domain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dirty="0">
                <a:solidFill>
                  <a:srgbClr val="B1C0D3"/>
                </a:solidFill>
                <a:latin typeface="Aptos"/>
              </a:rPr>
              <a:t>A small borrowing </a:t>
            </a:r>
            <a:r>
              <a:rPr sz="1150" b="0" dirty="0" smtClean="0">
                <a:solidFill>
                  <a:srgbClr val="B1C0D3"/>
                </a:solidFill>
                <a:latin typeface="Aptos"/>
              </a:rPr>
              <a:t>workflow</a:t>
            </a:r>
            <a:r>
              <a:rPr lang="en-US" sz="1150" b="0" dirty="0" smtClean="0">
                <a:solidFill>
                  <a:srgbClr val="B1C0D3"/>
                </a:solidFill>
                <a:latin typeface="Aptos"/>
              </a:rPr>
              <a:t> but </a:t>
            </a:r>
            <a:r>
              <a:rPr sz="1150" b="0" dirty="0" smtClean="0">
                <a:solidFill>
                  <a:srgbClr val="B1C0D3"/>
                </a:solidFill>
                <a:latin typeface="Aptos"/>
              </a:rPr>
              <a:t>not </a:t>
            </a:r>
            <a:r>
              <a:rPr sz="1150" b="0" dirty="0">
                <a:solidFill>
                  <a:srgbClr val="B1C0D3"/>
                </a:solidFill>
                <a:latin typeface="Aptos"/>
              </a:rPr>
              <a:t>a complete library management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B1C0D3"/>
                </a:solidFill>
                <a:latin typeface="Aptos"/>
              </a:rPr>
              <a:t>LIBRARY BORROWING SYSTEM  |  DDD ? TDD ? CLEAN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6692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2DCDB8"/>
                </a:solidFill>
                <a:latin typeface="Aptos"/>
              </a:rPr>
              <a:t>02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364224"/>
            <a:ext cx="11109960" cy="0"/>
          </a:xfrm>
          <a:prstGeom prst="line">
            <a:avLst/>
          </a:prstGeom>
          <a:ln w="10160">
            <a:solidFill>
              <a:srgbClr val="1F3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298448"/>
            <a:ext cx="5349240" cy="1856231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298448"/>
            <a:ext cx="59436" cy="1856231"/>
          </a:xfrm>
          <a:prstGeom prst="rect">
            <a:avLst/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435607"/>
            <a:ext cx="4983479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DCDB8"/>
                </a:solidFill>
                <a:latin typeface="Aptos"/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810512"/>
            <a:ext cx="4983479" cy="72019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F5F8FC"/>
                </a:solidFill>
                <a:latin typeface="Aptos"/>
              </a:rPr>
              <a:t>The library must track whether a physical book copy is available, who borrowed it, and when it is due. A return must restore availability and close the </a:t>
            </a:r>
            <a:r>
              <a:rPr sz="1400" b="0" dirty="0" smtClean="0">
                <a:solidFill>
                  <a:srgbClr val="F5F8FC"/>
                </a:solidFill>
                <a:latin typeface="Aptos"/>
              </a:rPr>
              <a:t>borrower</a:t>
            </a:r>
            <a:r>
              <a:rPr lang="en-US" sz="1400" b="0" dirty="0" smtClean="0">
                <a:solidFill>
                  <a:srgbClr val="F5F8FC"/>
                </a:solidFill>
                <a:latin typeface="Aptos"/>
              </a:rPr>
              <a:t>'</a:t>
            </a:r>
            <a:r>
              <a:rPr sz="1400" b="0" dirty="0" smtClean="0">
                <a:solidFill>
                  <a:srgbClr val="F5F8FC"/>
                </a:solidFill>
                <a:latin typeface="Aptos"/>
              </a:rPr>
              <a:t>s </a:t>
            </a:r>
            <a:r>
              <a:rPr sz="1400" b="0" dirty="0">
                <a:solidFill>
                  <a:srgbClr val="F5F8FC"/>
                </a:solidFill>
                <a:latin typeface="Aptos"/>
              </a:rPr>
              <a:t>active loan.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298448"/>
            <a:ext cx="5349240" cy="1856231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298448"/>
            <a:ext cx="59436" cy="1856231"/>
          </a:xfrm>
          <a:prstGeom prst="rect">
            <a:avLst/>
          </a:prstGeom>
          <a:solidFill>
            <a:srgbClr val="66DA9D"/>
          </a:solidFill>
          <a:ln>
            <a:solidFill>
              <a:srgbClr val="66D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435607"/>
            <a:ext cx="4983479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6DA9D"/>
                </a:solidFill>
                <a:latin typeface="Aptos"/>
              </a:rPr>
              <a:t>IN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810512"/>
            <a:ext cx="4983479" cy="12344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5F8FC"/>
                </a:solidFill>
                <a:latin typeface="Aptos"/>
              </a:rPr>
              <a:t>Borrow Book and Return Book use cases; two aggregates; six business rules; one in-process domain event; in-memory repositories; a minimal console entry point.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83280"/>
            <a:ext cx="5349240" cy="1344168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383280"/>
            <a:ext cx="59436" cy="1344168"/>
          </a:xfrm>
          <a:prstGeom prst="rect">
            <a:avLst/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3520440"/>
            <a:ext cx="4983479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BE5C"/>
                </a:solidFill>
                <a:latin typeface="Aptos"/>
              </a:rPr>
              <a:t>TERMS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895344"/>
            <a:ext cx="4983479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 err="1">
                <a:solidFill>
                  <a:srgbClr val="F5F8FC"/>
                </a:solidFill>
                <a:latin typeface="Aptos"/>
              </a:rPr>
              <a:t>BookItem</a:t>
            </a:r>
            <a:r>
              <a:rPr sz="1300" b="0" dirty="0">
                <a:solidFill>
                  <a:srgbClr val="F5F8FC"/>
                </a:solidFill>
                <a:latin typeface="Aptos"/>
              </a:rPr>
              <a:t> </a:t>
            </a:r>
            <a:r>
              <a:rPr lang="en-US" sz="1300" b="0" dirty="0" smtClean="0">
                <a:solidFill>
                  <a:srgbClr val="F5F8FC"/>
                </a:solidFill>
                <a:latin typeface="Aptos"/>
                <a:sym typeface="Wingdings" panose="05000000000000000000" pitchFamily="2" charset="2"/>
              </a:rPr>
              <a:t></a:t>
            </a:r>
            <a:r>
              <a:rPr lang="en-US" sz="1300" dirty="0">
                <a:solidFill>
                  <a:srgbClr val="F5F8FC"/>
                </a:solidFill>
                <a:latin typeface="Aptos"/>
                <a:sym typeface="Wingdings" panose="05000000000000000000" pitchFamily="2" charset="2"/>
              </a:rPr>
              <a:t> </a:t>
            </a:r>
            <a:r>
              <a:rPr sz="1300" b="0" dirty="0" smtClean="0">
                <a:solidFill>
                  <a:srgbClr val="F5F8FC"/>
                </a:solidFill>
                <a:latin typeface="Aptos"/>
              </a:rPr>
              <a:t>one </a:t>
            </a:r>
            <a:r>
              <a:rPr sz="1300" b="0" dirty="0">
                <a:solidFill>
                  <a:srgbClr val="F5F8FC"/>
                </a:solidFill>
                <a:latin typeface="Aptos"/>
              </a:rPr>
              <a:t>physical </a:t>
            </a:r>
            <a:r>
              <a:rPr sz="1300" b="0" dirty="0" smtClean="0">
                <a:solidFill>
                  <a:srgbClr val="F5F8FC"/>
                </a:solidFill>
                <a:latin typeface="Aptos"/>
              </a:rPr>
              <a:t>copy</a:t>
            </a:r>
            <a:r>
              <a:rPr lang="en-US" sz="1300" b="0" dirty="0" smtClean="0">
                <a:solidFill>
                  <a:srgbClr val="F5F8FC"/>
                </a:solidFill>
                <a:latin typeface="Aptos"/>
              </a:rPr>
              <a:t>, </a:t>
            </a:r>
            <a:r>
              <a:rPr sz="1300" b="0" dirty="0" smtClean="0">
                <a:solidFill>
                  <a:srgbClr val="F5F8FC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F5F8FC"/>
                </a:solidFill>
                <a:latin typeface="Aptos"/>
              </a:rPr>
              <a:t>BorrowerAccount</a:t>
            </a:r>
            <a:r>
              <a:rPr sz="1300" b="0" dirty="0">
                <a:solidFill>
                  <a:srgbClr val="F5F8FC"/>
                </a:solidFill>
                <a:latin typeface="Aptos"/>
              </a:rPr>
              <a:t> </a:t>
            </a:r>
            <a:r>
              <a:rPr lang="en-US" sz="1300" dirty="0" smtClean="0">
                <a:solidFill>
                  <a:srgbClr val="F5F8FC"/>
                </a:solidFill>
                <a:latin typeface="Aptos"/>
                <a:sym typeface="Wingdings" panose="05000000000000000000" pitchFamily="2" charset="2"/>
              </a:rPr>
              <a:t></a:t>
            </a:r>
            <a:r>
              <a:rPr sz="1300" b="0" dirty="0" smtClean="0">
                <a:solidFill>
                  <a:srgbClr val="F5F8FC"/>
                </a:solidFill>
                <a:latin typeface="Aptos"/>
              </a:rPr>
              <a:t> </a:t>
            </a:r>
            <a:r>
              <a:rPr sz="1300" b="0" dirty="0">
                <a:solidFill>
                  <a:srgbClr val="F5F8FC"/>
                </a:solidFill>
                <a:latin typeface="Aptos"/>
              </a:rPr>
              <a:t>student/staff </a:t>
            </a:r>
            <a:r>
              <a:rPr sz="1300" b="0" dirty="0" smtClean="0">
                <a:solidFill>
                  <a:srgbClr val="F5F8FC"/>
                </a:solidFill>
                <a:latin typeface="Aptos"/>
              </a:rPr>
              <a:t>account</a:t>
            </a:r>
            <a:r>
              <a:rPr lang="en-US" sz="1300" b="0" dirty="0" smtClean="0">
                <a:solidFill>
                  <a:srgbClr val="F5F8FC"/>
                </a:solidFill>
                <a:latin typeface="Aptos"/>
              </a:rPr>
              <a:t>, </a:t>
            </a:r>
            <a:r>
              <a:rPr sz="1300" b="0" dirty="0" smtClean="0">
                <a:solidFill>
                  <a:srgbClr val="F5F8FC"/>
                </a:solidFill>
                <a:latin typeface="Aptos"/>
              </a:rPr>
              <a:t>  Borrowing</a:t>
            </a:r>
            <a:r>
              <a:rPr lang="en-US" sz="1300" b="0" dirty="0" smtClean="0">
                <a:solidFill>
                  <a:srgbClr val="F5F8FC"/>
                </a:solidFill>
                <a:latin typeface="Aptos"/>
              </a:rPr>
              <a:t> </a:t>
            </a:r>
            <a:r>
              <a:rPr lang="en-US" sz="1300" b="0" dirty="0" smtClean="0">
                <a:solidFill>
                  <a:srgbClr val="F5F8FC"/>
                </a:solidFill>
                <a:latin typeface="Aptos"/>
                <a:sym typeface="Wingdings" panose="05000000000000000000" pitchFamily="2" charset="2"/>
              </a:rPr>
              <a:t></a:t>
            </a:r>
            <a:r>
              <a:rPr sz="1300" b="0" dirty="0" smtClean="0">
                <a:solidFill>
                  <a:srgbClr val="F5F8FC"/>
                </a:solidFill>
                <a:latin typeface="Aptos"/>
              </a:rPr>
              <a:t> </a:t>
            </a:r>
            <a:r>
              <a:rPr sz="1300" b="0" dirty="0">
                <a:solidFill>
                  <a:srgbClr val="F5F8FC"/>
                </a:solidFill>
                <a:latin typeface="Aptos"/>
              </a:rPr>
              <a:t>active </a:t>
            </a:r>
            <a:r>
              <a:rPr sz="1300" b="0" dirty="0" smtClean="0">
                <a:solidFill>
                  <a:srgbClr val="F5F8FC"/>
                </a:solidFill>
                <a:latin typeface="Aptos"/>
              </a:rPr>
              <a:t>loan</a:t>
            </a:r>
            <a:r>
              <a:rPr lang="en-US" sz="1300" b="0" dirty="0" smtClean="0">
                <a:solidFill>
                  <a:srgbClr val="F5F8FC"/>
                </a:solidFill>
                <a:latin typeface="Aptos"/>
              </a:rPr>
              <a:t>,</a:t>
            </a:r>
            <a:r>
              <a:rPr sz="1300" b="0" dirty="0" smtClean="0">
                <a:solidFill>
                  <a:srgbClr val="F5F8FC"/>
                </a:solidFill>
                <a:latin typeface="Aptos"/>
              </a:rPr>
              <a:t>  </a:t>
            </a:r>
            <a:r>
              <a:rPr sz="1300" b="0" dirty="0">
                <a:solidFill>
                  <a:srgbClr val="F5F8FC"/>
                </a:solidFill>
                <a:latin typeface="Aptos"/>
              </a:rPr>
              <a:t>ISBN </a:t>
            </a:r>
            <a:r>
              <a:rPr lang="en-US" sz="1300" b="0" dirty="0" smtClean="0">
                <a:solidFill>
                  <a:srgbClr val="F5F8FC"/>
                </a:solidFill>
                <a:latin typeface="Aptos"/>
                <a:sym typeface="Wingdings" panose="05000000000000000000" pitchFamily="2" charset="2"/>
              </a:rPr>
              <a:t></a:t>
            </a:r>
            <a:r>
              <a:rPr sz="1300" b="0" dirty="0" smtClean="0">
                <a:solidFill>
                  <a:srgbClr val="F5F8FC"/>
                </a:solidFill>
                <a:latin typeface="Aptos"/>
              </a:rPr>
              <a:t> </a:t>
            </a:r>
            <a:r>
              <a:rPr sz="1300" b="0" dirty="0">
                <a:solidFill>
                  <a:srgbClr val="F5F8FC"/>
                </a:solidFill>
                <a:latin typeface="Aptos"/>
              </a:rPr>
              <a:t>book identifier 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3383280"/>
            <a:ext cx="5349240" cy="1344168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99632" y="3383280"/>
            <a:ext cx="59436" cy="1344168"/>
          </a:xfrm>
          <a:prstGeom prst="rect">
            <a:avLst/>
          </a:prstGeom>
          <a:solidFill>
            <a:srgbClr val="FF8080"/>
          </a:solidFill>
          <a:ln>
            <a:solidFill>
              <a:srgbClr val="FF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3520440"/>
            <a:ext cx="4983479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8080"/>
                </a:solidFill>
                <a:latin typeface="Aptos"/>
              </a:rPr>
              <a:t>OUT OF SCOPE / SCOPE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895344"/>
            <a:ext cx="4983479" cy="4493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dirty="0">
                <a:solidFill>
                  <a:srgbClr val="F5F8FC"/>
                </a:solidFill>
                <a:latin typeface="Aptos"/>
              </a:rPr>
              <a:t>No production database, web app, deployment, broker, or </a:t>
            </a:r>
            <a:r>
              <a:rPr sz="1220" b="0" dirty="0" err="1">
                <a:solidFill>
                  <a:srgbClr val="F5F8FC"/>
                </a:solidFill>
                <a:latin typeface="Aptos"/>
              </a:rPr>
              <a:t>microservices</a:t>
            </a:r>
            <a:r>
              <a:rPr sz="1220" b="0" dirty="0" smtClean="0">
                <a:solidFill>
                  <a:srgbClr val="F5F8FC"/>
                </a:solidFill>
                <a:latin typeface="Aptos"/>
              </a:rPr>
              <a:t>.</a:t>
            </a:r>
            <a:endParaRPr sz="1220" b="0" dirty="0">
              <a:solidFill>
                <a:srgbClr val="F5F8FC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The six business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1C0D3"/>
                </a:solidFill>
                <a:latin typeface="Aptos"/>
              </a:rPr>
              <a:t>Each rule names its enforcing concept and the observable violation outcome.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B1C0D3"/>
                </a:solidFill>
                <a:latin typeface="Aptos"/>
              </a:rPr>
              <a:t>LIBRARY BORROWING SYSTEM  |  DDD ? TDD ? CLEAN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6692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2DCDB8"/>
                </a:solidFill>
                <a:latin typeface="Aptos"/>
              </a:rPr>
              <a:t>03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364224"/>
            <a:ext cx="11109960" cy="0"/>
          </a:xfrm>
          <a:prstGeom prst="line">
            <a:avLst/>
          </a:prstGeom>
          <a:ln w="10160">
            <a:solidFill>
              <a:srgbClr val="1F3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298448"/>
            <a:ext cx="694944" cy="365760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19" y="1335024"/>
            <a:ext cx="54864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DCDB8"/>
                </a:solidFill>
                <a:latin typeface="Aptos"/>
              </a:rPr>
              <a:t>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89888" y="1298448"/>
            <a:ext cx="4251960" cy="365760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63040" y="1335024"/>
            <a:ext cx="4105656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DCDB8"/>
                </a:solidFill>
                <a:latin typeface="Aptos"/>
              </a:rPr>
              <a:t>STATEMENT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0" y="1298448"/>
            <a:ext cx="2331720" cy="365760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88152" y="1335024"/>
            <a:ext cx="2185415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DCDB8"/>
                </a:solidFill>
                <a:latin typeface="Aptos"/>
              </a:rPr>
              <a:t>RESPONSIBLE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2" y="1298448"/>
            <a:ext cx="3401568" cy="365760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3024" y="1335024"/>
            <a:ext cx="3255264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DCDB8"/>
                </a:solidFill>
                <a:latin typeface="Aptos"/>
              </a:rPr>
              <a:t>IF VIOLATED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700784"/>
            <a:ext cx="694944" cy="566928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19" y="1737360"/>
            <a:ext cx="548640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BE5C"/>
                </a:solidFill>
                <a:latin typeface="Aptos"/>
              </a:rPr>
              <a:t>BR1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89888" y="1700784"/>
            <a:ext cx="4251960" cy="566928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63040" y="1737360"/>
            <a:ext cx="4105656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F5F8FC"/>
                </a:solidFill>
                <a:latin typeface="Aptos"/>
              </a:rPr>
              <a:t>ISBN-13 must contain 13 digits and a valid check digit.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0" y="1700784"/>
            <a:ext cx="2331720" cy="566928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88152" y="1737360"/>
            <a:ext cx="2185415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0" b="1">
                <a:solidFill>
                  <a:srgbClr val="2DCDB8"/>
                </a:solidFill>
                <a:latin typeface="Aptos"/>
              </a:rPr>
              <a:t>ISBN value object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9872" y="1700784"/>
            <a:ext cx="3401568" cy="566928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93024" y="1737360"/>
            <a:ext cx="3255264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F5F8FC"/>
                </a:solidFill>
                <a:latin typeface="Aptos"/>
              </a:rPr>
              <a:t>Raises ValueError; invalid value is not created.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2331720"/>
            <a:ext cx="694944" cy="566928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19" y="2368296"/>
            <a:ext cx="548640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BE5C"/>
                </a:solidFill>
                <a:latin typeface="Aptos"/>
              </a:rPr>
              <a:t>BR2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89888" y="2331720"/>
            <a:ext cx="4251960" cy="566928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63040" y="2368296"/>
            <a:ext cx="4105656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F5F8FC"/>
                </a:solidFill>
                <a:latin typeface="Aptos"/>
              </a:rPr>
              <a:t>Only an AVAILABLE BookItem may be borrowed.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0" y="2331720"/>
            <a:ext cx="2331720" cy="566928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88152" y="2368296"/>
            <a:ext cx="2185415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0" b="1">
                <a:solidFill>
                  <a:srgbClr val="2DCDB8"/>
                </a:solidFill>
                <a:latin typeface="Aptos"/>
              </a:rPr>
              <a:t>BookItem aggregate root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19872" y="2331720"/>
            <a:ext cx="3401568" cy="566928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93024" y="2368296"/>
            <a:ext cx="3255264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F5F8FC"/>
                </a:solidFill>
                <a:latin typeface="Aptos"/>
              </a:rPr>
              <a:t>Rejects the command; state remains BORROWED if already borrowed.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2962656"/>
            <a:ext cx="694944" cy="566928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19" y="2999232"/>
            <a:ext cx="548640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BE5C"/>
                </a:solidFill>
                <a:latin typeface="Aptos"/>
              </a:rPr>
              <a:t>BR3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89888" y="2962656"/>
            <a:ext cx="4251960" cy="566928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463040" y="2999232"/>
            <a:ext cx="4105656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F5F8FC"/>
                </a:solidFill>
                <a:latin typeface="Aptos"/>
              </a:rPr>
              <a:t>Active borrowings must not exceed the account limit.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15000" y="2962656"/>
            <a:ext cx="2331720" cy="566928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88152" y="2999232"/>
            <a:ext cx="2185415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0" b="1">
                <a:solidFill>
                  <a:srgbClr val="2DCDB8"/>
                </a:solidFill>
                <a:latin typeface="Aptos"/>
              </a:rPr>
              <a:t>BorrowerAccount aggregate root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19872" y="2962656"/>
            <a:ext cx="3401568" cy="566928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93024" y="2999232"/>
            <a:ext cx="3255264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F5F8FC"/>
                </a:solidFill>
                <a:latin typeface="Aptos"/>
              </a:rPr>
              <a:t>Rejects follow-up; account collection stays unchanged.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3593591"/>
            <a:ext cx="694944" cy="566928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1519" y="3630168"/>
            <a:ext cx="548640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BE5C"/>
                </a:solidFill>
                <a:latin typeface="Aptos"/>
              </a:rPr>
              <a:t>BR4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89888" y="3593591"/>
            <a:ext cx="4251960" cy="566928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463040" y="3630168"/>
            <a:ext cx="4105656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 dirty="0">
                <a:solidFill>
                  <a:srgbClr val="F5F8FC"/>
                </a:solidFill>
                <a:latin typeface="Aptos"/>
              </a:rPr>
              <a:t>Due date = borrowing date + policy days for borrower type.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15000" y="3593591"/>
            <a:ext cx="2331720" cy="566928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788152" y="3630168"/>
            <a:ext cx="2185415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0" b="1">
                <a:solidFill>
                  <a:srgbClr val="2DCDB8"/>
                </a:solidFill>
                <a:latin typeface="Aptos"/>
              </a:rPr>
              <a:t>LoanDueDateService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19872" y="3593591"/>
            <a:ext cx="3401568" cy="566928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193024" y="3630168"/>
            <a:ext cx="3255264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F5F8FC"/>
                </a:solidFill>
                <a:latin typeface="Aptos"/>
              </a:rPr>
              <a:t>Raises ValueError if no policy exists for the type.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4224528"/>
            <a:ext cx="694944" cy="566928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1519" y="4261104"/>
            <a:ext cx="548640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BE5C"/>
                </a:solidFill>
                <a:latin typeface="Aptos"/>
              </a:rPr>
              <a:t>BR5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89888" y="4224528"/>
            <a:ext cx="4251960" cy="566928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463040" y="4261104"/>
            <a:ext cx="4105656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F5F8FC"/>
                </a:solidFill>
                <a:latin typeface="Aptos"/>
              </a:rPr>
              <a:t>After borrow, request the borrower account to record the loan.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15000" y="4224528"/>
            <a:ext cx="2331720" cy="566928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788152" y="4261104"/>
            <a:ext cx="2185415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0" b="1">
                <a:solidFill>
                  <a:srgbClr val="2DCDB8"/>
                </a:solidFill>
                <a:latin typeface="Aptos"/>
              </a:rPr>
              <a:t>BookBorrowed + handler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19872" y="4224528"/>
            <a:ext cx="3401568" cy="566928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193024" y="4261104"/>
            <a:ext cx="3255264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F5F8FC"/>
                </a:solidFill>
                <a:latin typeface="Aptos"/>
              </a:rPr>
              <a:t>Handler fails if follow-up cannot be accepted; use case returns failure.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" y="4855464"/>
            <a:ext cx="694944" cy="566928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31519" y="4892040"/>
            <a:ext cx="548640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BE5C"/>
                </a:solidFill>
                <a:latin typeface="Aptos"/>
              </a:rPr>
              <a:t>BR6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89888" y="4855464"/>
            <a:ext cx="4251960" cy="566928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463040" y="4892040"/>
            <a:ext cx="4105656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F5F8FC"/>
                </a:solidFill>
                <a:latin typeface="Aptos"/>
              </a:rPr>
              <a:t>The BookItem must exist before borrowing continues.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15000" y="4855464"/>
            <a:ext cx="2331720" cy="566928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788152" y="4892040"/>
            <a:ext cx="2185415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0" b="1">
                <a:solidFill>
                  <a:srgbClr val="2DCDB8"/>
                </a:solidFill>
                <a:latin typeface="Aptos"/>
              </a:rPr>
              <a:t>Repository + application service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19872" y="4855464"/>
            <a:ext cx="3401568" cy="566928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193024" y="4892040"/>
            <a:ext cx="3255264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F5F8FC"/>
                </a:solidFill>
                <a:latin typeface="Aptos"/>
              </a:rPr>
              <a:t>Returns failed output; no event is handled.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Value Object &amp; Entity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1C0D3"/>
                </a:solidFill>
                <a:latin typeface="Aptos"/>
              </a:rPr>
              <a:t>BR1 is about valid value; BR2 is about state on an identified physical copy.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B1C0D3"/>
                </a:solidFill>
                <a:latin typeface="Aptos"/>
              </a:rPr>
              <a:t>LIBRARY BORROWING SYSTEM  |  DDD ? TDD ? CLEAN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6692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2DCDB8"/>
                </a:solidFill>
                <a:latin typeface="Aptos"/>
              </a:rPr>
              <a:t>04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364224"/>
            <a:ext cx="11109960" cy="0"/>
          </a:xfrm>
          <a:prstGeom prst="line">
            <a:avLst/>
          </a:prstGeom>
          <a:ln w="10160">
            <a:solidFill>
              <a:srgbClr val="1F3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1353312"/>
            <a:ext cx="5303520" cy="3246120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59436" cy="3246120"/>
          </a:xfrm>
          <a:prstGeom prst="rect">
            <a:avLst/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490472"/>
            <a:ext cx="4937759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2DCDB8"/>
                </a:solidFill>
                <a:latin typeface="Aptos"/>
              </a:rPr>
              <a:t>VALUE OBJECT </a:t>
            </a:r>
            <a:r>
              <a:rPr lang="en-US" sz="1400" b="1" dirty="0" smtClean="0">
                <a:solidFill>
                  <a:srgbClr val="2DCDB8"/>
                </a:solidFill>
                <a:latin typeface="Aptos"/>
                <a:sym typeface="Wingdings" panose="05000000000000000000" pitchFamily="2" charset="2"/>
              </a:rPr>
              <a:t></a:t>
            </a:r>
            <a:r>
              <a:rPr sz="1400" b="1" dirty="0" smtClean="0">
                <a:solidFill>
                  <a:srgbClr val="2DCDB8"/>
                </a:solidFill>
                <a:latin typeface="Aptos"/>
              </a:rPr>
              <a:t> </a:t>
            </a:r>
            <a:r>
              <a:rPr sz="1400" b="1" dirty="0">
                <a:solidFill>
                  <a:srgbClr val="2DCDB8"/>
                </a:solidFill>
                <a:latin typeface="Aptos"/>
              </a:rPr>
              <a:t>ISBN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65376"/>
            <a:ext cx="4937759" cy="15819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400" b="0" dirty="0" smtClean="0">
                <a:solidFill>
                  <a:srgbClr val="F5F8FC"/>
                </a:solidFill>
                <a:latin typeface="Aptos"/>
              </a:rPr>
              <a:t>1. </a:t>
            </a:r>
            <a:r>
              <a:rPr sz="1400" b="0" dirty="0" smtClean="0">
                <a:solidFill>
                  <a:srgbClr val="F5F8FC"/>
                </a:solidFill>
                <a:latin typeface="Aptos"/>
              </a:rPr>
              <a:t>Immutable </a:t>
            </a:r>
            <a:r>
              <a:rPr sz="1400" b="0" dirty="0" err="1">
                <a:solidFill>
                  <a:srgbClr val="F5F8FC"/>
                </a:solidFill>
                <a:latin typeface="Aptos"/>
              </a:rPr>
              <a:t>dataclass</a:t>
            </a:r>
            <a:r>
              <a:rPr sz="1400" b="0" dirty="0">
                <a:solidFill>
                  <a:srgbClr val="F5F8FC"/>
                </a:solidFill>
                <a:latin typeface="Aptos"/>
              </a:rPr>
              <a:t>; equality is based on normalized ISBN value</a:t>
            </a:r>
            <a:r>
              <a:rPr sz="1400" b="0" dirty="0" smtClean="0">
                <a:solidFill>
                  <a:srgbClr val="F5F8FC"/>
                </a:solidFill>
                <a:latin typeface="Aptos"/>
              </a:rPr>
              <a:t>.</a:t>
            </a:r>
            <a:endParaRPr lang="en-US" sz="1400" dirty="0">
              <a:solidFill>
                <a:srgbClr val="F5F8FC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r>
              <a:rPr sz="1400" b="0" dirty="0" smtClean="0">
                <a:solidFill>
                  <a:srgbClr val="F5F8FC"/>
                </a:solidFill>
                <a:latin typeface="Aptos"/>
              </a:rPr>
              <a:t> </a:t>
            </a:r>
            <a:r>
              <a:rPr lang="en-US" sz="1400" b="0" dirty="0" smtClean="0">
                <a:solidFill>
                  <a:srgbClr val="F5F8FC"/>
                </a:solidFill>
                <a:latin typeface="Aptos"/>
              </a:rPr>
              <a:t>2. </a:t>
            </a:r>
            <a:r>
              <a:rPr sz="1400" b="0" dirty="0" smtClean="0">
                <a:solidFill>
                  <a:srgbClr val="F5F8FC"/>
                </a:solidFill>
                <a:latin typeface="Aptos"/>
              </a:rPr>
              <a:t>Removes </a:t>
            </a:r>
            <a:r>
              <a:rPr sz="1400" b="0" dirty="0">
                <a:solidFill>
                  <a:srgbClr val="F5F8FC"/>
                </a:solidFill>
                <a:latin typeface="Aptos"/>
              </a:rPr>
              <a:t>spaces/hyphens, checks 13 digits and check digit.
</a:t>
            </a:r>
            <a:r>
              <a:rPr sz="1400" b="0" dirty="0" smtClean="0">
                <a:solidFill>
                  <a:srgbClr val="F5F8FC"/>
                </a:solidFill>
                <a:latin typeface="Aptos"/>
              </a:rPr>
              <a:t> </a:t>
            </a:r>
            <a:r>
              <a:rPr lang="en-US" sz="1400" b="0" dirty="0" smtClean="0">
                <a:solidFill>
                  <a:srgbClr val="F5F8FC"/>
                </a:solidFill>
                <a:latin typeface="Aptos"/>
              </a:rPr>
              <a:t>3. </a:t>
            </a:r>
            <a:r>
              <a:rPr sz="1400" b="0" dirty="0" smtClean="0">
                <a:solidFill>
                  <a:srgbClr val="F5F8FC"/>
                </a:solidFill>
                <a:latin typeface="Aptos"/>
              </a:rPr>
              <a:t>No </a:t>
            </a:r>
            <a:r>
              <a:rPr sz="1400" b="0" dirty="0">
                <a:solidFill>
                  <a:srgbClr val="F5F8FC"/>
                </a:solidFill>
                <a:latin typeface="Aptos"/>
              </a:rPr>
              <a:t>separate identity: two valid ISBN objects with the same digits represent the same value.
</a:t>
            </a:r>
            <a:r>
              <a:rPr sz="1400" b="0" dirty="0" smtClean="0">
                <a:solidFill>
                  <a:srgbClr val="F5F8FC"/>
                </a:solidFill>
                <a:latin typeface="Aptos"/>
              </a:rPr>
              <a:t> </a:t>
            </a:r>
            <a:r>
              <a:rPr lang="en-US" sz="1400" b="0" dirty="0" smtClean="0">
                <a:solidFill>
                  <a:srgbClr val="F5F8FC"/>
                </a:solidFill>
                <a:latin typeface="Aptos"/>
              </a:rPr>
              <a:t>4. </a:t>
            </a:r>
            <a:r>
              <a:rPr sz="1400" b="0" dirty="0" smtClean="0">
                <a:solidFill>
                  <a:srgbClr val="F5F8FC"/>
                </a:solidFill>
                <a:latin typeface="Aptos"/>
              </a:rPr>
              <a:t>Enforces </a:t>
            </a:r>
            <a:r>
              <a:rPr sz="1400" b="0" dirty="0">
                <a:solidFill>
                  <a:srgbClr val="F5F8FC"/>
                </a:solidFill>
                <a:latin typeface="Aptos"/>
              </a:rPr>
              <a:t>BR1.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53312"/>
            <a:ext cx="5303520" cy="3246120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353312"/>
            <a:ext cx="59436" cy="3246120"/>
          </a:xfrm>
          <a:prstGeom prst="rect">
            <a:avLst/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490472"/>
            <a:ext cx="4937759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FFBE5C"/>
                </a:solidFill>
                <a:latin typeface="Aptos"/>
              </a:rPr>
              <a:t>ENTITIES </a:t>
            </a:r>
            <a:r>
              <a:rPr lang="en-US" sz="1400" b="1" dirty="0" smtClean="0">
                <a:solidFill>
                  <a:srgbClr val="FFBE5C"/>
                </a:solidFill>
                <a:latin typeface="Aptos"/>
                <a:sym typeface="Wingdings" panose="05000000000000000000" pitchFamily="2" charset="2"/>
              </a:rPr>
              <a:t></a:t>
            </a:r>
            <a:r>
              <a:rPr sz="1400" b="1" dirty="0" smtClean="0">
                <a:solidFill>
                  <a:srgbClr val="FFBE5C"/>
                </a:solidFill>
                <a:latin typeface="Aptos"/>
              </a:rPr>
              <a:t> </a:t>
            </a:r>
            <a:r>
              <a:rPr sz="1400" b="1" dirty="0">
                <a:solidFill>
                  <a:srgbClr val="FFBE5C"/>
                </a:solidFill>
                <a:latin typeface="Aptos"/>
              </a:rPr>
              <a:t>IDENTITY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865376"/>
            <a:ext cx="4937759" cy="11510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400" dirty="0" smtClean="0">
                <a:solidFill>
                  <a:srgbClr val="F5F8FC"/>
                </a:solidFill>
                <a:latin typeface="Aptos"/>
              </a:rPr>
              <a:t>1.</a:t>
            </a:r>
            <a:r>
              <a:rPr sz="1400" b="0" dirty="0" smtClean="0">
                <a:solidFill>
                  <a:srgbClr val="F5F8F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F5F8FC"/>
                </a:solidFill>
                <a:latin typeface="Aptos"/>
              </a:rPr>
              <a:t>BookItem</a:t>
            </a:r>
            <a:r>
              <a:rPr sz="1400" b="0" dirty="0">
                <a:solidFill>
                  <a:srgbClr val="F5F8FC"/>
                </a:solidFill>
                <a:latin typeface="Aptos"/>
              </a:rPr>
              <a:t> identity is its unique copy ID (e.g., BI001); copies can share one ISBN but have separate availability states.
</a:t>
            </a:r>
            <a:r>
              <a:rPr lang="en-US" sz="1400" b="0" dirty="0" smtClean="0">
                <a:solidFill>
                  <a:srgbClr val="F5F8FC"/>
                </a:solidFill>
                <a:latin typeface="Aptos"/>
              </a:rPr>
              <a:t>2.</a:t>
            </a:r>
            <a:r>
              <a:rPr sz="1400" b="0" dirty="0" smtClean="0">
                <a:solidFill>
                  <a:srgbClr val="F5F8FC"/>
                </a:solidFill>
                <a:latin typeface="Aptos"/>
              </a:rPr>
              <a:t> </a:t>
            </a:r>
            <a:r>
              <a:rPr sz="1400" b="0" dirty="0">
                <a:solidFill>
                  <a:srgbClr val="F5F8FC"/>
                </a:solidFill>
                <a:latin typeface="Aptos"/>
              </a:rPr>
              <a:t>Borrowing is a child entity with its own identity and loan dates; it belongs to </a:t>
            </a:r>
            <a:r>
              <a:rPr sz="1400" b="0" dirty="0" err="1">
                <a:solidFill>
                  <a:srgbClr val="F5F8FC"/>
                </a:solidFill>
                <a:latin typeface="Aptos"/>
              </a:rPr>
              <a:t>BorrowerAccount</a:t>
            </a:r>
            <a:r>
              <a:rPr sz="1400" b="0" dirty="0">
                <a:solidFill>
                  <a:srgbClr val="F5F8FC"/>
                </a:solidFill>
                <a:latin typeface="Aptos"/>
              </a:rPr>
              <a:t>.
</a:t>
            </a:r>
            <a:r>
              <a:rPr lang="en-US" sz="1400" b="0" dirty="0" smtClean="0">
                <a:solidFill>
                  <a:srgbClr val="F5F8FC"/>
                </a:solidFill>
                <a:latin typeface="Aptos"/>
              </a:rPr>
              <a:t>3.</a:t>
            </a:r>
            <a:r>
              <a:rPr sz="1400" b="0" dirty="0" smtClean="0">
                <a:solidFill>
                  <a:srgbClr val="F5F8F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F5F8FC"/>
                </a:solidFill>
                <a:latin typeface="Aptos"/>
              </a:rPr>
              <a:t>BookItem</a:t>
            </a:r>
            <a:r>
              <a:rPr sz="1400" b="0" dirty="0">
                <a:solidFill>
                  <a:srgbClr val="F5F8FC"/>
                </a:solidFill>
                <a:latin typeface="Aptos"/>
              </a:rPr>
              <a:t> controls its state transition under BR2.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081364"/>
            <a:ext cx="10442448" cy="24314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dirty="0">
                <a:solidFill>
                  <a:srgbClr val="B1C0D3"/>
                </a:solidFill>
                <a:latin typeface="Aptos"/>
              </a:rPr>
              <a:t>Code: domain/book_items/value_objects/ISBN.py </a:t>
            </a:r>
            <a:r>
              <a:rPr lang="en-US" sz="1100" b="0" dirty="0" smtClean="0">
                <a:solidFill>
                  <a:srgbClr val="B1C0D3"/>
                </a:solidFill>
                <a:latin typeface="Aptos"/>
              </a:rPr>
              <a:t>, </a:t>
            </a:r>
            <a:r>
              <a:rPr sz="1100" b="0" dirty="0" smtClean="0">
                <a:solidFill>
                  <a:srgbClr val="B1C0D3"/>
                </a:solidFill>
                <a:latin typeface="Aptos"/>
              </a:rPr>
              <a:t>  </a:t>
            </a:r>
            <a:r>
              <a:rPr sz="1100" b="0" dirty="0">
                <a:solidFill>
                  <a:srgbClr val="B1C0D3"/>
                </a:solidFill>
                <a:latin typeface="Aptos"/>
              </a:rPr>
              <a:t>domain/book_items/BookItem.py </a:t>
            </a:r>
            <a:r>
              <a:rPr lang="en-US" sz="1100" b="0" dirty="0" smtClean="0">
                <a:solidFill>
                  <a:srgbClr val="B1C0D3"/>
                </a:solidFill>
                <a:latin typeface="Aptos"/>
              </a:rPr>
              <a:t>,  </a:t>
            </a:r>
            <a:r>
              <a:rPr sz="1100" b="0" dirty="0" smtClean="0">
                <a:solidFill>
                  <a:srgbClr val="B1C0D3"/>
                </a:solidFill>
                <a:latin typeface="Aptos"/>
              </a:rPr>
              <a:t> </a:t>
            </a:r>
            <a:r>
              <a:rPr sz="1100" b="0" dirty="0">
                <a:solidFill>
                  <a:srgbClr val="B1C0D3"/>
                </a:solidFill>
                <a:latin typeface="Aptos"/>
              </a:rPr>
              <a:t>domain/borrower_accounts/borrowings/Borrowing.py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Two aggregates and their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1C0D3"/>
                </a:solidFill>
                <a:latin typeface="Aptos"/>
              </a:rPr>
              <a:t>Each aggregate root protects its own state; the roots are not directly coupled.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B1C0D3"/>
                </a:solidFill>
                <a:latin typeface="Aptos"/>
              </a:rPr>
              <a:t>LIBRARY BORROWING SYSTEM  |  DDD ? TDD ? CLEAN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6692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2DCDB8"/>
                </a:solidFill>
                <a:latin typeface="Aptos"/>
              </a:rPr>
              <a:t>05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364224"/>
            <a:ext cx="11109960" cy="0"/>
          </a:xfrm>
          <a:prstGeom prst="line">
            <a:avLst/>
          </a:prstGeom>
          <a:ln w="10160">
            <a:solidFill>
              <a:srgbClr val="1F3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1389888"/>
            <a:ext cx="5303520" cy="3429000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389888"/>
            <a:ext cx="59436" cy="3429000"/>
          </a:xfrm>
          <a:prstGeom prst="rect">
            <a:avLst/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527048"/>
            <a:ext cx="4937759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2DCDB8"/>
                </a:solidFill>
                <a:latin typeface="Aptos"/>
              </a:rPr>
              <a:t>AGGREGATE A </a:t>
            </a:r>
            <a:r>
              <a:rPr lang="en-US" sz="1400" b="1" dirty="0" smtClean="0">
                <a:solidFill>
                  <a:srgbClr val="2DCDB8"/>
                </a:solidFill>
                <a:latin typeface="Aptos"/>
                <a:sym typeface="Wingdings" panose="05000000000000000000" pitchFamily="2" charset="2"/>
              </a:rPr>
              <a:t></a:t>
            </a:r>
            <a:r>
              <a:rPr sz="1400" b="1" dirty="0" smtClean="0">
                <a:solidFill>
                  <a:srgbClr val="2DCDB8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2DCDB8"/>
                </a:solidFill>
                <a:latin typeface="Aptos"/>
              </a:rPr>
              <a:t>BookItem</a:t>
            </a:r>
            <a:endParaRPr sz="1400" b="1" dirty="0">
              <a:solidFill>
                <a:srgbClr val="2DCDB8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7" y="1901952"/>
            <a:ext cx="4937759" cy="2807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F5F8FC"/>
                </a:solidFill>
                <a:latin typeface="Aptos"/>
              </a:rPr>
              <a:t>ROOT: BookItem
Owns: ISBN reference, title, availability status, raised events.
Identity: book-item ID for one physical copy.
Invariant/state rule: only AVAILABLE can transition to BORROWED (BR2). Borrowing raises BookBorrowed.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89888"/>
            <a:ext cx="5303520" cy="3429000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389888"/>
            <a:ext cx="59436" cy="3429000"/>
          </a:xfrm>
          <a:prstGeom prst="rect">
            <a:avLst/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527048"/>
            <a:ext cx="4937759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FFBE5C"/>
                </a:solidFill>
                <a:latin typeface="Aptos"/>
              </a:rPr>
              <a:t>AGGREGATE B </a:t>
            </a:r>
            <a:r>
              <a:rPr lang="en-US" sz="1400" b="1" dirty="0" smtClean="0">
                <a:solidFill>
                  <a:srgbClr val="FFBE5C"/>
                </a:solidFill>
                <a:latin typeface="Aptos"/>
                <a:sym typeface="Wingdings" panose="05000000000000000000" pitchFamily="2" charset="2"/>
              </a:rPr>
              <a:t></a:t>
            </a:r>
            <a:r>
              <a:rPr sz="1400" b="1" dirty="0" smtClean="0">
                <a:solidFill>
                  <a:srgbClr val="FFBE5C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FFBE5C"/>
                </a:solidFill>
                <a:latin typeface="Aptos"/>
              </a:rPr>
              <a:t>BorrowerAccount</a:t>
            </a:r>
            <a:endParaRPr sz="1400" b="1" dirty="0">
              <a:solidFill>
                <a:srgbClr val="FFBE5C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82512" y="1901952"/>
            <a:ext cx="4937759" cy="2807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F5F8FC"/>
                </a:solidFill>
                <a:latin typeface="Aptos"/>
              </a:rPr>
              <a:t>ROOT: BorrowerAccount
Contains: active Borrowing child entities.
Identity: student/staff account ID.
Invariant: active borrowing count must remain at or below its configured limit (BR3). Only the root records/closes borrowings.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5102352"/>
            <a:ext cx="106070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The event is the communication bridge: Aggregate A reports what happened; the handler asks Aggregate B to perform its own domain 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BR4 Domain Service &amp; Factory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1C0D3"/>
                </a:solidFill>
                <a:latin typeface="Aptos"/>
              </a:rPr>
              <a:t>Keep cross-concept policy out of the aggregates; avoid a pattern without a creation rule.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B1C0D3"/>
                </a:solidFill>
                <a:latin typeface="Aptos"/>
              </a:rPr>
              <a:t>LIBRARY BORROWING SYSTEM  |  DDD ? TDD ? CLEAN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6692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2DCDB8"/>
                </a:solidFill>
                <a:latin typeface="Aptos"/>
              </a:rPr>
              <a:t>06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364224"/>
            <a:ext cx="11109960" cy="0"/>
          </a:xfrm>
          <a:prstGeom prst="line">
            <a:avLst/>
          </a:prstGeom>
          <a:ln w="10160">
            <a:solidFill>
              <a:srgbClr val="1F3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1371600"/>
            <a:ext cx="5303520" cy="3200400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371600"/>
            <a:ext cx="59436" cy="3200400"/>
          </a:xfrm>
          <a:prstGeom prst="rect">
            <a:avLst/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508760"/>
            <a:ext cx="4937759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DCDB8"/>
                </a:solidFill>
                <a:latin typeface="Aptos"/>
              </a:rPr>
              <a:t>LoanDueDateService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83664"/>
            <a:ext cx="4937759" cy="2578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5F8FC"/>
                </a:solidFill>
                <a:latin typeface="Aptos"/>
              </a:rPr>
              <a:t>Input: borrowing date + BorrowerType.
Default policy: STUDENT = 14 days; STAFF = 28 days.
Returns the due date; raises ValueError if a type has no configured policy.
Used by BorrowBookApplicationService before BookItem is borrowed.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71600"/>
            <a:ext cx="5303520" cy="3200400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371600"/>
            <a:ext cx="59436" cy="3200400"/>
          </a:xfrm>
          <a:prstGeom prst="rect">
            <a:avLst/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508760"/>
            <a:ext cx="4937759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BE5C"/>
                </a:solidFill>
                <a:latin typeface="Aptos"/>
              </a:rPr>
              <a:t>Factory: NOT 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883664"/>
            <a:ext cx="4937759" cy="11510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 err="1">
                <a:solidFill>
                  <a:srgbClr val="F5F8FC"/>
                </a:solidFill>
                <a:latin typeface="Aptos"/>
              </a:rPr>
              <a:t>BookItem</a:t>
            </a:r>
            <a:r>
              <a:rPr sz="1400" b="0" dirty="0">
                <a:solidFill>
                  <a:srgbClr val="F5F8FC"/>
                </a:solidFill>
                <a:latin typeface="Aptos"/>
              </a:rPr>
              <a:t> and </a:t>
            </a:r>
            <a:r>
              <a:rPr sz="1400" b="0" dirty="0" err="1">
                <a:solidFill>
                  <a:srgbClr val="F5F8FC"/>
                </a:solidFill>
                <a:latin typeface="Aptos"/>
              </a:rPr>
              <a:t>BorrowerAccount</a:t>
            </a:r>
            <a:r>
              <a:rPr sz="1400" b="0" dirty="0">
                <a:solidFill>
                  <a:srgbClr val="F5F8FC"/>
                </a:solidFill>
                <a:latin typeface="Aptos"/>
              </a:rPr>
              <a:t> construction is straightforward. There are no complex creation rules or multi-step invariants requiring a separate factory.
Decision: use constructors and keep the model </a:t>
            </a:r>
            <a:r>
              <a:rPr sz="1400" b="0" dirty="0" smtClean="0">
                <a:solidFill>
                  <a:srgbClr val="F5F8FC"/>
                </a:solidFill>
                <a:latin typeface="Aptos"/>
              </a:rPr>
              <a:t>small</a:t>
            </a:r>
            <a:r>
              <a:rPr lang="en-US" sz="1400" b="0" dirty="0" smtClean="0">
                <a:solidFill>
                  <a:srgbClr val="F5F8FC"/>
                </a:solidFill>
                <a:latin typeface="Aptos"/>
              </a:rPr>
              <a:t>.</a:t>
            </a:r>
            <a:endParaRPr sz="1400" b="0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4672" y="4882896"/>
            <a:ext cx="10561320" cy="5120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B1C0D3"/>
                </a:solidFill>
                <a:latin typeface="Aptos"/>
              </a:rPr>
              <a:t>Implementation: domain/borrower_accounts/services/LoanDueDateService.py  |  Rule: BR4  |  Test: T4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Repositories &amp; in-memory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1C0D3"/>
                </a:solidFill>
                <a:latin typeface="Aptos"/>
              </a:rPr>
              <a:t>One repository contract per aggregate root used by the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B1C0D3"/>
                </a:solidFill>
                <a:latin typeface="Aptos"/>
              </a:rPr>
              <a:t>LIBRARY BORROWING SYSTEM  |  DDD ? TDD ? CLEAN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6692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2DCDB8"/>
                </a:solidFill>
                <a:latin typeface="Aptos"/>
              </a:rPr>
              <a:t>07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364224"/>
            <a:ext cx="11109960" cy="0"/>
          </a:xfrm>
          <a:prstGeom prst="line">
            <a:avLst/>
          </a:prstGeom>
          <a:ln w="10160">
            <a:solidFill>
              <a:srgbClr val="1F3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1371600"/>
            <a:ext cx="5303520" cy="2926080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371600"/>
            <a:ext cx="59436" cy="2926080"/>
          </a:xfrm>
          <a:prstGeom prst="rect">
            <a:avLst/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508760"/>
            <a:ext cx="4937759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DCDB8"/>
                </a:solidFill>
                <a:latin typeface="Aptos"/>
              </a:rPr>
              <a:t>BookItemRepository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83664"/>
            <a:ext cx="4937759" cy="23042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40" b="0">
                <a:solidFill>
                  <a:srgbClr val="F5F8FC"/>
                </a:solidFill>
                <a:latin typeface="Aptos"/>
              </a:rPr>
              <a:t>Contract: find_by_id / save
In-memory adapter: InMemoryBookItemRepository
Stores: BookItem aggregates keyed by copy ID.
Reads return deep copies; changes become stored only after save.
Used for BR6 lookup and state persistence.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71600"/>
            <a:ext cx="5303520" cy="2926080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9632" y="1371600"/>
            <a:ext cx="59436" cy="2926080"/>
          </a:xfrm>
          <a:prstGeom prst="rect">
            <a:avLst/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508760"/>
            <a:ext cx="4937759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BE5C"/>
                </a:solidFill>
                <a:latin typeface="Aptos"/>
              </a:rPr>
              <a:t>BorrowerAccountRepository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883664"/>
            <a:ext cx="4937759" cy="23042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40" b="0">
                <a:solidFill>
                  <a:srgbClr val="F5F8FC"/>
                </a:solidFill>
                <a:latin typeface="Aptos"/>
              </a:rPr>
              <a:t>Contract: find_by_id / save
In-memory adapter: InMemoryBorrowerAccountRepository
Stores: BorrowerAccount aggregates keyed by account ID, including active Borrowing children.
Reads return deep copies; saves persist accepted updates.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608576"/>
            <a:ext cx="10680192" cy="731520"/>
          </a:xfrm>
          <a:prstGeom prst="roundRect">
            <a:avLst>
              <a:gd name="adj" fmla="val 12000"/>
            </a:avLst>
          </a:prstGeom>
          <a:solidFill>
            <a:srgbClr val="1F354F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4736592"/>
            <a:ext cx="10314432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Placement note: repository abstractions are in the Domain layer, following the lecturer?s specific guidance to this group; in-memory implementations are in Infrastructure.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Clean Architecture &amp; actual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1C0D3"/>
                </a:solidFill>
                <a:latin typeface="Aptos"/>
              </a:rPr>
              <a:t>The diagram follows the current imports and dependency wiring in the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B1C0D3"/>
                </a:solidFill>
                <a:latin typeface="Aptos"/>
              </a:rPr>
              <a:t>LIBRARY BORROWING SYSTEM  |  DDD ? TDD ? CLEAN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6692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2DCDB8"/>
                </a:solidFill>
                <a:latin typeface="Aptos"/>
              </a:rPr>
              <a:t>08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364224"/>
            <a:ext cx="11109960" cy="0"/>
          </a:xfrm>
          <a:prstGeom prst="line">
            <a:avLst/>
          </a:prstGeom>
          <a:ln w="10160">
            <a:solidFill>
              <a:srgbClr val="1F3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1335024"/>
            <a:ext cx="10863072" cy="4462272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472184"/>
            <a:ext cx="1965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BE5C"/>
                </a:solidFill>
                <a:latin typeface="Aptos"/>
              </a:rPr>
              <a:t>PRESENTATION / INTERFACE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828800"/>
            <a:ext cx="1920240" cy="3611880"/>
          </a:xfrm>
          <a:prstGeom prst="roundRect">
            <a:avLst>
              <a:gd name="adj" fmla="val 12000"/>
            </a:avLst>
          </a:prstGeom>
          <a:solidFill>
            <a:srgbClr val="1F354F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4984" y="2011680"/>
            <a:ext cx="1572768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console.py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487168"/>
            <a:ext cx="1554480" cy="2395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B1C0D3"/>
                </a:solidFill>
                <a:latin typeface="Aptos"/>
              </a:rPr>
              <a:t>Entry point
Seeds in-memory data
Creates repositories, services and handler
Calls use cases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99232" y="1828800"/>
            <a:ext cx="4160520" cy="3611880"/>
          </a:xfrm>
          <a:prstGeom prst="roundRect">
            <a:avLst>
              <a:gd name="adj" fmla="val 12000"/>
            </a:avLst>
          </a:prstGeom>
          <a:solidFill>
            <a:srgbClr val="213F57"/>
          </a:solidFill>
          <a:ln>
            <a:solidFill>
              <a:srgbClr val="213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9544" y="2011680"/>
            <a:ext cx="3712463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DCDB8"/>
                </a:solidFill>
                <a:latin typeface="Aptos"/>
              </a:rPr>
              <a:t>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6976" y="2514600"/>
            <a:ext cx="3685032" cy="2514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5F8FC"/>
                </a:solidFill>
                <a:latin typeface="Aptos"/>
              </a:rPr>
              <a:t>BorrowBookApplicationService
ReturnBookApplicationService
BookBorrowedHandler
Input / output DTOs
Coordinates; delegates rules to domain.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88352" y="1828800"/>
            <a:ext cx="2688336" cy="3611880"/>
          </a:xfrm>
          <a:prstGeom prst="roundRect">
            <a:avLst>
              <a:gd name="adj" fmla="val 12000"/>
            </a:avLst>
          </a:prstGeom>
          <a:solidFill>
            <a:srgbClr val="283D54"/>
          </a:solidFill>
          <a:ln>
            <a:solidFill>
              <a:srgbClr val="28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62088" y="2011680"/>
            <a:ext cx="2340864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DCDB8"/>
                </a:solidFill>
                <a:latin typeface="Aptos"/>
              </a:rPr>
              <a:t>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514600"/>
            <a:ext cx="2267712" cy="2468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0">
                <a:solidFill>
                  <a:srgbClr val="F5F8FC"/>
                </a:solidFill>
                <a:latin typeface="Aptos"/>
              </a:rPr>
              <a:t>BookItem + status
BorrowerAccount + Borrowing
ISBN / BorrowerType
LoanDueDateService
BookBorrowed event
Repository contracts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77856" y="1828800"/>
            <a:ext cx="1005840" cy="3611880"/>
          </a:xfrm>
          <a:prstGeom prst="roundRect">
            <a:avLst>
              <a:gd name="adj" fmla="val 12000"/>
            </a:avLst>
          </a:prstGeom>
          <a:solidFill>
            <a:srgbClr val="1F354F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41864" y="1975104"/>
            <a:ext cx="877824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BE5C"/>
                </a:solidFill>
                <a:latin typeface="Aptos"/>
              </a:rPr>
              <a:t>INFRA-
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9296" y="2679192"/>
            <a:ext cx="822960" cy="2267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0">
                <a:solidFill>
                  <a:srgbClr val="F5F8FC"/>
                </a:solidFill>
                <a:latin typeface="Aptos"/>
              </a:rPr>
              <a:t>In-memory repositories
Deep-copy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0632" y="3383280"/>
            <a:ext cx="310896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2DCDB8"/>
                </a:solidFill>
                <a:latin typeface="Aptos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3383280"/>
            <a:ext cx="237744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DCDB8"/>
                </a:solidFill>
                <a:latin typeface="Aptos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76688" y="3383280"/>
            <a:ext cx="1828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BE5C"/>
                </a:solidFill>
                <a:latin typeface="Aptos"/>
              </a:rPr>
              <a:t>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925312"/>
            <a:ext cx="10241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B1C0D3"/>
                </a:solidFill>
                <a:latin typeface="Aptos"/>
              </a:rPr>
              <a:t>Dependencies point inward: presentation wires outer adapters; Application and Infrastructure depend on Domain contracts/models.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Main Application Service, DTOs &amp;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1C0D3"/>
                </a:solidFill>
                <a:latin typeface="Aptos"/>
              </a:rPr>
              <a:t>BorrowBookApplicationService coordinates work; it does not own the core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B1C0D3"/>
                </a:solidFill>
                <a:latin typeface="Aptos"/>
              </a:rPr>
              <a:t>LIBRARY BORROWING SYSTEM  |  DDD ? TDD ? CLEAN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6692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2DCDB8"/>
                </a:solidFill>
                <a:latin typeface="Aptos"/>
              </a:rPr>
              <a:t>09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364224"/>
            <a:ext cx="11109960" cy="0"/>
          </a:xfrm>
          <a:prstGeom prst="line">
            <a:avLst/>
          </a:prstGeom>
          <a:ln w="10160">
            <a:solidFill>
              <a:srgbClr val="1F3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1353312"/>
            <a:ext cx="3520440" cy="3474720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59436" cy="3474720"/>
          </a:xfrm>
          <a:prstGeom prst="rect">
            <a:avLst/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490472"/>
            <a:ext cx="3154680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DCDB8"/>
                </a:solidFill>
                <a:latin typeface="Aptos"/>
              </a:rPr>
              <a:t>REQUEST ?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65376"/>
            <a:ext cx="3154680" cy="28529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F5F8FC"/>
                </a:solidFill>
                <a:latin typeface="Aptos"/>
              </a:rPr>
              <a:t>BorrowBookInputDTO
? student_id
? book_item_id
BorrowBookApplicationService loads both aggregates, calculates due date, calls BookItem, dispatches events, and returns an output DTO.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353312"/>
            <a:ext cx="3520440" cy="3474720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34256" y="1353312"/>
            <a:ext cx="59436" cy="3474720"/>
          </a:xfrm>
          <a:prstGeom prst="rect">
            <a:avLst/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17136" y="1490472"/>
            <a:ext cx="3154680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BE5C"/>
                </a:solidFill>
                <a:latin typeface="Aptos"/>
              </a:rPr>
              <a:t>DEPENDENCIES INJECTED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1865376"/>
            <a:ext cx="3154680" cy="28529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F5F8FC"/>
                </a:solidFill>
                <a:latin typeface="Aptos"/>
              </a:rPr>
              <a:t>BookItemRepository
BorrowerAccountRepository
LoanDueDateService
DomainEventHandler
Clock (today function)
Supplied externally in presentation/console.py.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353312"/>
            <a:ext cx="3520440" cy="3474720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10144" y="1353312"/>
            <a:ext cx="59436" cy="3474720"/>
          </a:xfrm>
          <a:prstGeom prst="rect">
            <a:avLst/>
          </a:prstGeom>
          <a:solidFill>
            <a:srgbClr val="66DA9D"/>
          </a:solidFill>
          <a:ln>
            <a:solidFill>
              <a:srgbClr val="66D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93023" y="1490472"/>
            <a:ext cx="315468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66DA9D"/>
                </a:solidFill>
                <a:latin typeface="Aptos"/>
              </a:rPr>
              <a:t>RESULT </a:t>
            </a:r>
            <a:r>
              <a:rPr sz="1400" b="1" dirty="0" smtClean="0">
                <a:solidFill>
                  <a:srgbClr val="66DA9D"/>
                </a:solidFill>
                <a:latin typeface="Aptos"/>
              </a:rPr>
              <a:t> </a:t>
            </a:r>
            <a:r>
              <a:rPr sz="1400" b="1" dirty="0">
                <a:solidFill>
                  <a:srgbClr val="66DA9D"/>
                </a:solidFill>
                <a:latin typeface="Aptos"/>
              </a:rPr>
              <a:t>CALLER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3" y="1865376"/>
            <a:ext cx="3154680" cy="28529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F5F8FC"/>
                </a:solidFill>
                <a:latin typeface="Aptos"/>
              </a:rPr>
              <a:t>BorrowBookOutputDTO
? success / failure
? IDs and message
? due_date on success
? title when available
ReturnBookApplicationService is the second use case and uses its own request/response DTOs.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38928"/>
            <a:ext cx="10515600" cy="40233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B1C0D3"/>
                </a:solidFill>
                <a:latin typeface="Aptos"/>
              </a:rPr>
              <a:t>BR2, BR4, BR5 and BR6 are delegated to the domain model/service, handler, or repository lookup.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881360" cy="4893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dirty="0">
                <a:solidFill>
                  <a:srgbClr val="F5F8FC"/>
                </a:solidFill>
                <a:latin typeface="Aptos"/>
              </a:rPr>
              <a:t>BR5 Domain Event: Aggregate A </a:t>
            </a:r>
            <a:r>
              <a:rPr lang="en-US" sz="2700" b="1" dirty="0" smtClean="0">
                <a:solidFill>
                  <a:srgbClr val="F5F8FC"/>
                </a:solidFill>
                <a:latin typeface="Aptos"/>
                <a:sym typeface="Wingdings" panose="05000000000000000000" pitchFamily="2" charset="2"/>
              </a:rPr>
              <a:t></a:t>
            </a:r>
            <a:r>
              <a:rPr sz="2700" b="1" dirty="0" smtClean="0">
                <a:solidFill>
                  <a:srgbClr val="F5F8FC"/>
                </a:solidFill>
                <a:latin typeface="Aptos"/>
              </a:rPr>
              <a:t> </a:t>
            </a:r>
            <a:r>
              <a:rPr sz="2700" b="1" dirty="0">
                <a:solidFill>
                  <a:srgbClr val="F5F8FC"/>
                </a:solidFill>
                <a:latin typeface="Aptos"/>
              </a:rPr>
              <a:t>Aggregate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1C0D3"/>
                </a:solidFill>
                <a:latin typeface="Aptos"/>
              </a:rPr>
              <a:t>Simple synchronous, in-process handling; the event requests a follow-up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B1C0D3"/>
                </a:solidFill>
                <a:latin typeface="Aptos"/>
              </a:rPr>
              <a:t>LIBRARY BORROWING SYSTEM  |  DDD ? TDD ? CLEAN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6692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2DCDB8"/>
                </a:solidFill>
                <a:latin typeface="Aptos"/>
              </a:rPr>
              <a:t>10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364224"/>
            <a:ext cx="11109960" cy="0"/>
          </a:xfrm>
          <a:prstGeom prst="line">
            <a:avLst/>
          </a:prstGeom>
          <a:ln w="10160">
            <a:solidFill>
              <a:srgbClr val="1F3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85216" y="1755648"/>
            <a:ext cx="1901952" cy="1883664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993392"/>
            <a:ext cx="1682496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2DCDB8"/>
                </a:solidFill>
                <a:latin typeface="Aptos"/>
              </a:rPr>
              <a:t>1 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514600"/>
            <a:ext cx="1664208" cy="83210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0">
                <a:solidFill>
                  <a:srgbClr val="F5F8FC"/>
                </a:solidFill>
                <a:latin typeface="Aptos"/>
              </a:rPr>
              <a:t>BorrowBookInputDTO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512903"/>
            <a:ext cx="329184" cy="35086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b="1" dirty="0" smtClean="0">
                <a:solidFill>
                  <a:srgbClr val="2DCDB8"/>
                </a:solidFill>
                <a:latin typeface="Aptos"/>
                <a:sym typeface="Wingdings" panose="05000000000000000000" pitchFamily="2" charset="2"/>
              </a:rPr>
              <a:t></a:t>
            </a:r>
            <a:endParaRPr sz="1800" b="1" dirty="0">
              <a:solidFill>
                <a:srgbClr val="2DCDB8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834640" y="1755648"/>
            <a:ext cx="1901952" cy="1883664"/>
          </a:xfrm>
          <a:prstGeom prst="roundRect">
            <a:avLst>
              <a:gd name="adj" fmla="val 12000"/>
            </a:avLst>
          </a:prstGeom>
          <a:solidFill>
            <a:srgbClr val="1F354F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44368" y="1993392"/>
            <a:ext cx="1682496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2DCDB8"/>
                </a:solidFill>
                <a:latin typeface="Aptos"/>
              </a:rPr>
              <a:t>2  AGGREGATE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2514600"/>
            <a:ext cx="1664208" cy="83210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0">
                <a:solidFill>
                  <a:srgbClr val="F5F8FC"/>
                </a:solidFill>
                <a:latin typeface="Aptos"/>
              </a:rPr>
              <a:t>BookItem.borrow()
AVAILABLE ? BORROWED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512903"/>
            <a:ext cx="329184" cy="35086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b="1" dirty="0" smtClean="0">
                <a:solidFill>
                  <a:srgbClr val="2DCDB8"/>
                </a:solidFill>
                <a:latin typeface="Aptos"/>
                <a:sym typeface="Wingdings" panose="05000000000000000000" pitchFamily="2" charset="2"/>
              </a:rPr>
              <a:t></a:t>
            </a:r>
            <a:endParaRPr sz="1800" b="1" dirty="0">
              <a:solidFill>
                <a:srgbClr val="2DCDB8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93208" y="1755648"/>
            <a:ext cx="1901952" cy="1883664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02936" y="1993392"/>
            <a:ext cx="1682496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2DCDB8"/>
                </a:solidFill>
                <a:latin typeface="Aptos"/>
              </a:rPr>
              <a:t>3  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514600"/>
            <a:ext cx="1664208" cy="83210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0">
                <a:solidFill>
                  <a:srgbClr val="F5F8FC"/>
                </a:solidFill>
                <a:latin typeface="Aptos"/>
              </a:rPr>
              <a:t>BookBorrowed
copy ID, borrower, 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512903"/>
            <a:ext cx="329184" cy="35086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b="1" dirty="0" smtClean="0">
                <a:solidFill>
                  <a:srgbClr val="2DCDB8"/>
                </a:solidFill>
                <a:latin typeface="Aptos"/>
                <a:sym typeface="Wingdings" panose="05000000000000000000" pitchFamily="2" charset="2"/>
              </a:rPr>
              <a:t></a:t>
            </a:r>
            <a:endParaRPr sz="1800" b="1" dirty="0">
              <a:solidFill>
                <a:srgbClr val="2DCDB8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351775" y="1755648"/>
            <a:ext cx="1901952" cy="1883664"/>
          </a:xfrm>
          <a:prstGeom prst="roundRect">
            <a:avLst>
              <a:gd name="adj" fmla="val 12000"/>
            </a:avLst>
          </a:prstGeom>
          <a:solidFill>
            <a:srgbClr val="1F354F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61503" y="1993392"/>
            <a:ext cx="1682496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2DCDB8"/>
                </a:solidFill>
                <a:latin typeface="Aptos"/>
              </a:rPr>
              <a:t>4  HANDLER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0648" y="2514600"/>
            <a:ext cx="1664208" cy="83210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0">
                <a:solidFill>
                  <a:srgbClr val="F5F8FC"/>
                </a:solidFill>
                <a:latin typeface="Aptos"/>
              </a:rPr>
              <a:t>BookBorrowedHandler
loads account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2512903"/>
            <a:ext cx="329184" cy="35086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b="1" dirty="0" smtClean="0">
                <a:solidFill>
                  <a:srgbClr val="2DCDB8"/>
                </a:solidFill>
                <a:latin typeface="Aptos"/>
                <a:sym typeface="Wingdings" panose="05000000000000000000" pitchFamily="2" charset="2"/>
              </a:rPr>
              <a:t></a:t>
            </a:r>
            <a:endParaRPr sz="1800" b="1" dirty="0">
              <a:solidFill>
                <a:srgbClr val="2DCDB8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601200" y="1755648"/>
            <a:ext cx="1901952" cy="1883664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10928" y="1993392"/>
            <a:ext cx="1682496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FFBE5C"/>
                </a:solidFill>
                <a:latin typeface="Aptos"/>
              </a:rPr>
              <a:t>5  AGGREGATE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0072" y="2514600"/>
            <a:ext cx="1664208" cy="83210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0">
                <a:solidFill>
                  <a:srgbClr val="F5F8FC"/>
                </a:solidFill>
                <a:latin typeface="Aptos"/>
              </a:rPr>
              <a:t>record_borrowing()
checks BR3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096512"/>
            <a:ext cx="5230368" cy="1115568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49808" y="4096512"/>
            <a:ext cx="59436" cy="1115568"/>
          </a:xfrm>
          <a:prstGeom prst="rect">
            <a:avLst/>
          </a:prstGeom>
          <a:solidFill>
            <a:srgbClr val="66DA9D"/>
          </a:solidFill>
          <a:ln>
            <a:solidFill>
              <a:srgbClr val="66D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2688" y="4233672"/>
            <a:ext cx="4864607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6DA9D"/>
                </a:solidFill>
                <a:latin typeface="Aptos"/>
              </a:rPr>
              <a:t>ACCEPTED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608576"/>
            <a:ext cx="4864607" cy="4937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F5F8FC"/>
                </a:solidFill>
                <a:latin typeface="Aptos"/>
              </a:rPr>
              <a:t>Account records the Borrowing and is saved by the handler; the use case then saves the borrowed BookItem.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9632" y="4096512"/>
            <a:ext cx="5230368" cy="1115568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99632" y="4096512"/>
            <a:ext cx="59436" cy="1115568"/>
          </a:xfrm>
          <a:prstGeom prst="rect">
            <a:avLst/>
          </a:prstGeom>
          <a:solidFill>
            <a:srgbClr val="FF8080"/>
          </a:solidFill>
          <a:ln>
            <a:solidFill>
              <a:srgbClr val="FF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82512" y="4233672"/>
            <a:ext cx="4864607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8080"/>
                </a:solidFill>
                <a:latin typeface="Aptos"/>
              </a:rPr>
              <a:t>REJECTED AT BR3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4608576"/>
            <a:ext cx="4864607" cy="4937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F5F8FC"/>
                </a:solidFill>
                <a:latin typeface="Aptos"/>
              </a:rPr>
              <a:t>BorrowerAccount raises ValueError before mutation. The use case returns failure and does not save the changed BookItem copy.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881360" cy="4893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dirty="0" smtClean="0">
                <a:solidFill>
                  <a:srgbClr val="F5F8FC"/>
                </a:solidFill>
                <a:latin typeface="Aptos"/>
              </a:rPr>
              <a:t>T1</a:t>
            </a:r>
            <a:r>
              <a:rPr lang="en-US" sz="2700" b="1" dirty="0" smtClean="0">
                <a:solidFill>
                  <a:srgbClr val="F5F8FC"/>
                </a:solidFill>
                <a:latin typeface="Aptos"/>
              </a:rPr>
              <a:t>--</a:t>
            </a:r>
            <a:r>
              <a:rPr sz="2700" b="1" dirty="0" smtClean="0">
                <a:solidFill>
                  <a:srgbClr val="F5F8FC"/>
                </a:solidFill>
                <a:latin typeface="Aptos"/>
              </a:rPr>
              <a:t>T8</a:t>
            </a:r>
            <a:r>
              <a:rPr sz="2700" b="1" dirty="0">
                <a:solidFill>
                  <a:srgbClr val="F5F8FC"/>
                </a:solidFill>
                <a:latin typeface="Aptos"/>
              </a:rPr>
              <a:t>: tests, rule coverage &amp;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1C0D3"/>
                </a:solidFill>
                <a:latin typeface="Aptos"/>
              </a:rPr>
              <a:t>T1-T6 include exactly two rejection cases (T1-T2), one boundary case (T3), and three valid cases (T4-T6).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B1C0D3"/>
                </a:solidFill>
                <a:latin typeface="Aptos"/>
              </a:rPr>
              <a:t>LIBRARY BORROWING SYSTEM  |  DDD ? TDD ? CLEAN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6692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2DCDB8"/>
                </a:solidFill>
                <a:latin typeface="Aptos"/>
              </a:rPr>
              <a:t>11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364224"/>
            <a:ext cx="11109960" cy="0"/>
          </a:xfrm>
          <a:prstGeom prst="line">
            <a:avLst/>
          </a:prstGeom>
          <a:ln w="10160">
            <a:solidFill>
              <a:srgbClr val="1F3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252728"/>
            <a:ext cx="576072" cy="347472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8660" y="1275588"/>
            <a:ext cx="475488" cy="30175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DCDB8"/>
                </a:solidFill>
                <a:latin typeface="Aptos"/>
              </a:rPr>
              <a:t>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9304" y="1252728"/>
            <a:ext cx="694944" cy="347472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39595" y="1275588"/>
            <a:ext cx="594360" cy="30175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DCDB8"/>
                </a:solidFill>
                <a:latin typeface="Aptos"/>
              </a:rPr>
              <a:t>RULE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75688" y="1252728"/>
            <a:ext cx="941832" cy="347472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25980" y="1275588"/>
            <a:ext cx="841248" cy="30175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DCDB8"/>
                </a:solidFill>
                <a:latin typeface="Aptos"/>
              </a:rPr>
              <a:t>CASE 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90672" y="1252728"/>
            <a:ext cx="3977639" cy="347472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40964" y="1275588"/>
            <a:ext cx="3877055" cy="30175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DCDB8"/>
                </a:solidFill>
                <a:latin typeface="Aptos"/>
              </a:rPr>
              <a:t>WHAT IT CHECKS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23176" y="1252728"/>
            <a:ext cx="4389120" cy="347472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3468" y="1275588"/>
            <a:ext cx="4288536" cy="30175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DCDB8"/>
                </a:solidFill>
                <a:latin typeface="Aptos"/>
              </a:rPr>
              <a:t>EXPECTED RESULT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1627632"/>
            <a:ext cx="576072" cy="448056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8660" y="1650492"/>
            <a:ext cx="475488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BE5C"/>
                </a:solidFill>
                <a:latin typeface="Aptos"/>
              </a:rPr>
              <a:t>T1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9304" y="1627632"/>
            <a:ext cx="694944" cy="448056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39595" y="1650492"/>
            <a:ext cx="594360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DCDB8"/>
                </a:solidFill>
                <a:latin typeface="Aptos"/>
              </a:rPr>
              <a:t>BR1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75688" y="1627632"/>
            <a:ext cx="941832" cy="448056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25980" y="1650492"/>
            <a:ext cx="841248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8080"/>
                </a:solidFill>
                <a:latin typeface="Aptos"/>
              </a:rPr>
              <a:t>REJECTION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90672" y="1627632"/>
            <a:ext cx="3977639" cy="448056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40964" y="1650492"/>
            <a:ext cx="3877055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5" b="0">
                <a:solidFill>
                  <a:srgbClr val="F5F8FC"/>
                </a:solidFill>
                <a:latin typeface="Aptos"/>
              </a:rPr>
              <a:t>Valid ISBN and ISBN with an invalid check digit.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23176" y="1627632"/>
            <a:ext cx="4389120" cy="448056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73468" y="1650492"/>
            <a:ext cx="4288536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5" b="0">
                <a:solidFill>
                  <a:srgbClr val="66DA9D"/>
                </a:solidFill>
                <a:latin typeface="Aptos"/>
              </a:rPr>
              <a:t>Valid ISBN accepted; invalid check digit rejected.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2116836"/>
            <a:ext cx="576072" cy="448056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8660" y="2139696"/>
            <a:ext cx="475488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BE5C"/>
                </a:solidFill>
                <a:latin typeface="Aptos"/>
              </a:rPr>
              <a:t>T2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89304" y="2116836"/>
            <a:ext cx="694944" cy="448056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39595" y="2139696"/>
            <a:ext cx="594360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DCDB8"/>
                </a:solidFill>
                <a:latin typeface="Aptos"/>
              </a:rPr>
              <a:t>BR2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75688" y="2116836"/>
            <a:ext cx="941832" cy="448056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125980" y="2139696"/>
            <a:ext cx="841248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8080"/>
                </a:solidFill>
                <a:latin typeface="Aptos"/>
              </a:rPr>
              <a:t>REJECTION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90672" y="2116836"/>
            <a:ext cx="3977639" cy="448056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140964" y="2139696"/>
            <a:ext cx="3877055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5" b="0">
                <a:solidFill>
                  <a:srgbClr val="F5F8FC"/>
                </a:solidFill>
                <a:latin typeface="Aptos"/>
              </a:rPr>
              <a:t>Borrow an available copy, then attempt to borrow it again.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23176" y="2116836"/>
            <a:ext cx="4389120" cy="448056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73468" y="2139696"/>
            <a:ext cx="4288536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5" b="0">
                <a:solidFill>
                  <a:srgbClr val="66DA9D"/>
                </a:solidFill>
                <a:latin typeface="Aptos"/>
              </a:rPr>
              <a:t>First borrow succeeds; repeat borrow is rejected.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2606040"/>
            <a:ext cx="576072" cy="448056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8660" y="2628900"/>
            <a:ext cx="475488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BE5C"/>
                </a:solidFill>
                <a:latin typeface="Aptos"/>
              </a:rPr>
              <a:t>T3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89304" y="2606040"/>
            <a:ext cx="694944" cy="448056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339595" y="2628900"/>
            <a:ext cx="594360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DCDB8"/>
                </a:solidFill>
                <a:latin typeface="Aptos"/>
              </a:rPr>
              <a:t>BR3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75688" y="2606040"/>
            <a:ext cx="941832" cy="448056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125980" y="2628900"/>
            <a:ext cx="841248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BE5C"/>
                </a:solidFill>
                <a:latin typeface="Aptos"/>
              </a:rPr>
              <a:t>BOUNDARY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90672" y="2606040"/>
            <a:ext cx="3977639" cy="448056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140964" y="2628900"/>
            <a:ext cx="3877055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5" b="0">
                <a:solidFill>
                  <a:srgbClr val="F5F8FC"/>
                </a:solidFill>
                <a:latin typeface="Aptos"/>
              </a:rPr>
              <a:t>Record the final borrowing when 4 of 5 slots are active.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23176" y="2606040"/>
            <a:ext cx="4389120" cy="448056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173468" y="2628900"/>
            <a:ext cx="4288536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5" b="0">
                <a:solidFill>
                  <a:srgbClr val="66DA9D"/>
                </a:solidFill>
                <a:latin typeface="Aptos"/>
              </a:rPr>
              <a:t>Fifth borrowing is accepted; count reaches 5.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3095244"/>
            <a:ext cx="576072" cy="448056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08660" y="3118103"/>
            <a:ext cx="475488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BE5C"/>
                </a:solidFill>
                <a:latin typeface="Aptos"/>
              </a:rPr>
              <a:t>T4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89304" y="3095244"/>
            <a:ext cx="694944" cy="448056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339595" y="3118103"/>
            <a:ext cx="594360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DCDB8"/>
                </a:solidFill>
                <a:latin typeface="Aptos"/>
              </a:rPr>
              <a:t>BR4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75688" y="3095244"/>
            <a:ext cx="941832" cy="448056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125980" y="3118103"/>
            <a:ext cx="841248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6DA9D"/>
                </a:solidFill>
                <a:latin typeface="Aptos"/>
              </a:rPr>
              <a:t>VALID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90672" y="3095244"/>
            <a:ext cx="3977639" cy="448056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140964" y="3118103"/>
            <a:ext cx="3877055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5" b="0">
                <a:solidFill>
                  <a:srgbClr val="F5F8FC"/>
                </a:solidFill>
                <a:latin typeface="Aptos"/>
              </a:rPr>
              <a:t>Calculate due dates for Student and Staff borrower types.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23176" y="3095244"/>
            <a:ext cx="4389120" cy="448056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173468" y="3118103"/>
            <a:ext cx="4288536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5" b="0">
                <a:solidFill>
                  <a:srgbClr val="66DA9D"/>
                </a:solidFill>
                <a:latin typeface="Aptos"/>
              </a:rPr>
              <a:t>14-day and 28-day due dates are returned.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" y="3584448"/>
            <a:ext cx="576072" cy="448056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08660" y="3607308"/>
            <a:ext cx="475488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BE5C"/>
                </a:solidFill>
                <a:latin typeface="Aptos"/>
              </a:rPr>
              <a:t>T5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89304" y="3584448"/>
            <a:ext cx="694944" cy="448056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339595" y="3607308"/>
            <a:ext cx="594360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DCDB8"/>
                </a:solidFill>
                <a:latin typeface="Aptos"/>
              </a:rPr>
              <a:t>BR5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75688" y="3584448"/>
            <a:ext cx="941832" cy="448056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125980" y="3607308"/>
            <a:ext cx="841248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6DA9D"/>
                </a:solidFill>
                <a:latin typeface="Aptos"/>
              </a:rPr>
              <a:t>VALID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90672" y="3584448"/>
            <a:ext cx="3977639" cy="448056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140964" y="3607308"/>
            <a:ext cx="3877055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5" b="0">
                <a:solidFill>
                  <a:srgbClr val="F5F8FC"/>
                </a:solidFill>
                <a:latin typeface="Aptos"/>
              </a:rPr>
              <a:t>Handle BookBorrowed for an existing borrower account.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23176" y="3584448"/>
            <a:ext cx="4389120" cy="448056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173468" y="3607308"/>
            <a:ext cx="4288536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5" b="0">
                <a:solidFill>
                  <a:srgbClr val="66DA9D"/>
                </a:solidFill>
                <a:latin typeface="Aptos"/>
              </a:rPr>
              <a:t>Handler records the borrowing in Aggregate B.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8368" y="4073652"/>
            <a:ext cx="576072" cy="448056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08660" y="4096512"/>
            <a:ext cx="475488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BE5C"/>
                </a:solidFill>
                <a:latin typeface="Aptos"/>
              </a:rPr>
              <a:t>T6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289304" y="4073652"/>
            <a:ext cx="694944" cy="448056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339595" y="4096512"/>
            <a:ext cx="594360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DCDB8"/>
                </a:solidFill>
                <a:latin typeface="Aptos"/>
              </a:rPr>
              <a:t>BR6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75688" y="4073652"/>
            <a:ext cx="941832" cy="448056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125980" y="4096512"/>
            <a:ext cx="841248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6DA9D"/>
                </a:solidFill>
                <a:latin typeface="Aptos"/>
              </a:rPr>
              <a:t>VALID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090672" y="4073652"/>
            <a:ext cx="3977639" cy="448056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140964" y="4096512"/>
            <a:ext cx="3877055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5" b="0">
                <a:solidFill>
                  <a:srgbClr val="F5F8FC"/>
                </a:solidFill>
                <a:latin typeface="Aptos"/>
              </a:rPr>
              <a:t>Look up an existing BookItem before continuing to borrow.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23176" y="4073652"/>
            <a:ext cx="4389120" cy="448056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173468" y="4096512"/>
            <a:ext cx="4288536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5" b="0">
                <a:solidFill>
                  <a:srgbClr val="66DA9D"/>
                </a:solidFill>
                <a:latin typeface="Aptos"/>
              </a:rPr>
              <a:t>BookItem is found; use case proceeds successfully.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8368" y="4562856"/>
            <a:ext cx="576072" cy="448056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08660" y="4585716"/>
            <a:ext cx="475488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BE5C"/>
                </a:solidFill>
                <a:latin typeface="Aptos"/>
              </a:rPr>
              <a:t>T7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289304" y="4562856"/>
            <a:ext cx="694944" cy="448056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339595" y="4585716"/>
            <a:ext cx="594360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DCDB8"/>
                </a:solidFill>
                <a:latin typeface="Aptos"/>
              </a:rPr>
              <a:t>BR5/BR6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075688" y="4562856"/>
            <a:ext cx="941832" cy="448056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125980" y="4585716"/>
            <a:ext cx="841248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6DA9D"/>
                </a:solidFill>
                <a:latin typeface="Aptos"/>
              </a:rPr>
              <a:t>VALID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90672" y="4562856"/>
            <a:ext cx="3977639" cy="448056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140964" y="4585716"/>
            <a:ext cx="3877055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5" b="0">
                <a:solidFill>
                  <a:srgbClr val="F5F8FC"/>
                </a:solidFill>
                <a:latin typeface="Aptos"/>
              </a:rPr>
              <a:t>Successful main use case and handled event.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123176" y="4562856"/>
            <a:ext cx="4389120" cy="448056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173468" y="4585716"/>
            <a:ext cx="4288536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5" b="0">
                <a:solidFill>
                  <a:srgbClr val="66DA9D"/>
                </a:solidFill>
                <a:latin typeface="Aptos"/>
              </a:rPr>
              <a:t>Success; BookItem and BorrowerAccount are updated.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58368" y="5052060"/>
            <a:ext cx="576072" cy="448056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08660" y="5074920"/>
            <a:ext cx="475488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BE5C"/>
                </a:solidFill>
                <a:latin typeface="Aptos"/>
              </a:rPr>
              <a:t>T8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289304" y="5052060"/>
            <a:ext cx="694944" cy="448056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339595" y="5074920"/>
            <a:ext cx="594360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DCDB8"/>
                </a:solidFill>
                <a:latin typeface="Aptos"/>
              </a:rPr>
              <a:t>BR3/BR5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075688" y="5052060"/>
            <a:ext cx="941832" cy="448056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2125980" y="5074920"/>
            <a:ext cx="841248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8080"/>
                </a:solidFill>
                <a:latin typeface="Aptos"/>
              </a:rPr>
              <a:t>REJECTION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90672" y="5052060"/>
            <a:ext cx="3977639" cy="448056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140964" y="5074920"/>
            <a:ext cx="3877055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5" b="0">
                <a:solidFill>
                  <a:srgbClr val="F5F8FC"/>
                </a:solidFill>
                <a:latin typeface="Aptos"/>
              </a:rPr>
              <a:t>Aggregate B rejects the follow-up at its limit.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123176" y="5052060"/>
            <a:ext cx="4389120" cy="448056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7173468" y="5074920"/>
            <a:ext cx="4288536" cy="402336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5" b="0">
                <a:solidFill>
                  <a:srgbClr val="66DA9D"/>
                </a:solidFill>
                <a:latin typeface="Aptos"/>
              </a:rPr>
              <a:t>Failure; account unchanged; BookItem stays AVAILABLE.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49808" y="5605272"/>
            <a:ext cx="10698480" cy="393192"/>
          </a:xfrm>
          <a:prstGeom prst="rect">
            <a:avLst/>
          </a:prstGeom>
          <a:solidFill>
            <a:srgbClr val="0F1C30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00100" y="5628132"/>
            <a:ext cx="10597896" cy="34747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B1C0D3"/>
                </a:solidFill>
                <a:latin typeface="Aptos"/>
              </a:rPr>
              <a:t>Evidence: evidence/test_output.txt records all eight coursework tests passing; seven supplementary console tests remain outside T1-T8.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5F8FC"/>
                </a:solidFill>
                <a:latin typeface="Aptos"/>
              </a:rPr>
              <a:t>TDD evidence: RED ? implementation ? GREEN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1C0D3"/>
                </a:solidFill>
                <a:latin typeface="Aptos"/>
              </a:rPr>
              <a:t>The BR2 test is T2 in the current mapping; archived RED/GREEN/REFACTOR output retains the original T3 label.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B1C0D3"/>
                </a:solidFill>
                <a:latin typeface="Aptos"/>
              </a:rPr>
              <a:t>LIBRARY BORROWING SYSTEM  |  DDD ? TDD ? CLEAN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6692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2DCDB8"/>
                </a:solidFill>
                <a:latin typeface="Aptos"/>
              </a:rPr>
              <a:t>12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364224"/>
            <a:ext cx="11109960" cy="0"/>
          </a:xfrm>
          <a:prstGeom prst="line">
            <a:avLst/>
          </a:prstGeom>
          <a:ln w="10160">
            <a:solidFill>
              <a:srgbClr val="1F3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" y="1664208"/>
            <a:ext cx="2587752" cy="2944368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59" y="1865376"/>
            <a:ext cx="987552" cy="274320"/>
          </a:xfrm>
          <a:prstGeom prst="roundRect">
            <a:avLst>
              <a:gd name="adj" fmla="val 12000"/>
            </a:avLst>
          </a:prstGeom>
          <a:solidFill>
            <a:srgbClr val="1F354F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1897380"/>
            <a:ext cx="877824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dirty="0" smtClean="0">
                <a:solidFill>
                  <a:srgbClr val="FF8080"/>
                </a:solidFill>
                <a:latin typeface="Aptos"/>
              </a:rPr>
              <a:t>RED</a:t>
            </a:r>
            <a:r>
              <a:rPr lang="en-US" sz="850" b="1" dirty="0" smtClean="0">
                <a:solidFill>
                  <a:srgbClr val="FF8080"/>
                </a:solidFill>
                <a:latin typeface="Aptos"/>
              </a:rPr>
              <a:t>: Failing test</a:t>
            </a:r>
            <a:endParaRPr sz="850" b="1" dirty="0">
              <a:solidFill>
                <a:srgbClr val="FF8080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7" y="2359152"/>
            <a:ext cx="2240280" cy="120494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Wrote the </a:t>
            </a:r>
            <a:r>
              <a:rPr lang="en-US" sz="1100" dirty="0" smtClean="0">
                <a:solidFill>
                  <a:schemeClr val="bg2">
                    <a:lumMod val="90000"/>
                  </a:schemeClr>
                </a:solidFill>
              </a:rPr>
              <a:t>T2 </a:t>
            </a:r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test first, while </a:t>
            </a:r>
            <a:r>
              <a:rPr lang="en-US" sz="1100" b="1" dirty="0" err="1">
                <a:solidFill>
                  <a:schemeClr val="bg2">
                    <a:lumMod val="90000"/>
                  </a:schemeClr>
                </a:solidFill>
              </a:rPr>
              <a:t>BookItem.borrow</a:t>
            </a:r>
            <a:r>
              <a:rPr lang="en-US" sz="1100" b="1" dirty="0">
                <a:solidFill>
                  <a:schemeClr val="bg2">
                    <a:lumMod val="90000"/>
                  </a:schemeClr>
                </a:solidFill>
              </a:rPr>
              <a:t>()</a:t>
            </a:r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 was an empty placeholder.</a:t>
            </a:r>
          </a:p>
          <a:p>
            <a:pPr marL="177800" indent="-177800">
              <a:buSzPct val="100000"/>
              <a:buChar char="•"/>
            </a:pPr>
            <a:r>
              <a:rPr lang="en-US" sz="1100" b="1" dirty="0">
                <a:solidFill>
                  <a:schemeClr val="bg2">
                    <a:lumMod val="90000"/>
                  </a:schemeClr>
                </a:solidFill>
              </a:rPr>
              <a:t>Result:</a:t>
            </a:r>
            <a:r>
              <a:rPr lang="en-US" sz="1100" dirty="0">
                <a:solidFill>
                  <a:schemeClr val="bg2">
                    <a:lumMod val="90000"/>
                  </a:schemeClr>
                </a:solidFill>
              </a:rPr>
              <a:t> The test failed as expected because the status stayed </a:t>
            </a:r>
            <a:r>
              <a:rPr lang="en-US" sz="1100" b="1" dirty="0">
                <a:solidFill>
                  <a:schemeClr val="bg2">
                    <a:lumMod val="90000"/>
                  </a:schemeClr>
                </a:solidFill>
              </a:rPr>
              <a:t>AVAILABLE</a:t>
            </a:r>
            <a:endParaRPr sz="1070" b="0" dirty="0">
              <a:solidFill>
                <a:schemeClr val="bg2">
                  <a:lumMod val="90000"/>
                </a:schemeClr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1247" y="3749039"/>
            <a:ext cx="224028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>
                <a:solidFill>
                  <a:srgbClr val="B1C0D3"/>
                </a:solidFill>
                <a:latin typeface="Aptos"/>
              </a:rPr>
              <a:t>evidence/tdd_t3_red.txt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8687" y="2880360"/>
            <a:ext cx="27432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700" b="1" dirty="0" smtClean="0">
                <a:solidFill>
                  <a:srgbClr val="2DCDB8"/>
                </a:solidFill>
                <a:latin typeface="Aptos"/>
                <a:sym typeface="Wingdings" panose="05000000000000000000" pitchFamily="2" charset="2"/>
              </a:rPr>
              <a:t></a:t>
            </a:r>
            <a:endParaRPr sz="1700" b="1" dirty="0">
              <a:solidFill>
                <a:srgbClr val="2DCDB8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11296" y="1664208"/>
            <a:ext cx="2587752" cy="2944368"/>
          </a:xfrm>
          <a:prstGeom prst="roundRect">
            <a:avLst>
              <a:gd name="adj" fmla="val 12000"/>
            </a:avLst>
          </a:prstGeom>
          <a:solidFill>
            <a:srgbClr val="1F354F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675887" y="1865376"/>
            <a:ext cx="987552" cy="274320"/>
          </a:xfrm>
          <a:prstGeom prst="roundRect">
            <a:avLst>
              <a:gd name="adj" fmla="val 12000"/>
            </a:avLst>
          </a:prstGeom>
          <a:solidFill>
            <a:srgbClr val="1F354F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30751" y="1897380"/>
            <a:ext cx="87782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BE5C"/>
                </a:solidFill>
                <a:latin typeface="Aptos"/>
              </a:rPr>
              <a:t>IMPLEMENT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2359152"/>
            <a:ext cx="2240280" cy="11338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F5F8FC"/>
                </a:solidFill>
                <a:latin typeface="Aptos"/>
              </a:rPr>
              <a:t>Added the minimum state change so an available BookItem becomes BORROWED.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6" y="3749039"/>
            <a:ext cx="224028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>
                <a:solidFill>
                  <a:srgbClr val="B1C0D3"/>
                </a:solidFill>
                <a:latin typeface="Aptos"/>
              </a:rPr>
              <a:t>Implementation step shown by the saved sequence.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1616" y="2880360"/>
            <a:ext cx="27432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700" b="1" dirty="0" smtClean="0">
                <a:solidFill>
                  <a:srgbClr val="2DCDB8"/>
                </a:solidFill>
                <a:latin typeface="Aptos"/>
                <a:sym typeface="Wingdings" panose="05000000000000000000" pitchFamily="2" charset="2"/>
              </a:rPr>
              <a:t></a:t>
            </a:r>
            <a:endParaRPr sz="1700" b="1" dirty="0">
              <a:solidFill>
                <a:srgbClr val="2DCDB8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64224" y="1664208"/>
            <a:ext cx="2587752" cy="2944368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28816" y="1865376"/>
            <a:ext cx="987552" cy="274320"/>
          </a:xfrm>
          <a:prstGeom prst="roundRect">
            <a:avLst>
              <a:gd name="adj" fmla="val 12000"/>
            </a:avLst>
          </a:prstGeom>
          <a:solidFill>
            <a:srgbClr val="1F354F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79" y="1897380"/>
            <a:ext cx="877824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dirty="0" smtClean="0">
                <a:solidFill>
                  <a:srgbClr val="66DA9D"/>
                </a:solidFill>
                <a:latin typeface="Aptos"/>
              </a:rPr>
              <a:t>GREEN</a:t>
            </a:r>
            <a:r>
              <a:rPr lang="en-US" sz="850" b="1" dirty="0" smtClean="0">
                <a:solidFill>
                  <a:srgbClr val="66DA9D"/>
                </a:solidFill>
                <a:latin typeface="Aptos"/>
              </a:rPr>
              <a:t> : Passing test</a:t>
            </a:r>
            <a:endParaRPr sz="850" b="1" dirty="0">
              <a:solidFill>
                <a:srgbClr val="66DA9D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47104" y="2359152"/>
            <a:ext cx="2240280" cy="4031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dirty="0">
                <a:solidFill>
                  <a:srgbClr val="F5F8FC"/>
                </a:solidFill>
                <a:latin typeface="Aptos"/>
              </a:rPr>
              <a:t>The same BR2 state test (now T2) passed after implementation;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749039"/>
            <a:ext cx="224028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>
                <a:solidFill>
                  <a:srgbClr val="B1C0D3"/>
                </a:solidFill>
                <a:latin typeface="Aptos"/>
              </a:rPr>
              <a:t>evidence/tdd_t3_green.txt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24544" y="2880360"/>
            <a:ext cx="27432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700" b="1" dirty="0" smtClean="0">
                <a:solidFill>
                  <a:srgbClr val="2DCDB8"/>
                </a:solidFill>
                <a:latin typeface="Aptos"/>
                <a:sym typeface="Wingdings" panose="05000000000000000000" pitchFamily="2" charset="2"/>
              </a:rPr>
              <a:t></a:t>
            </a:r>
            <a:endParaRPr sz="1700" b="1" dirty="0">
              <a:solidFill>
                <a:srgbClr val="2DCDB8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217152" y="1664208"/>
            <a:ext cx="2587752" cy="2944368"/>
          </a:xfrm>
          <a:prstGeom prst="roundRect">
            <a:avLst>
              <a:gd name="adj" fmla="val 12000"/>
            </a:avLst>
          </a:prstGeom>
          <a:solidFill>
            <a:srgbClr val="1F354F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381744" y="1865376"/>
            <a:ext cx="987552" cy="274320"/>
          </a:xfrm>
          <a:prstGeom prst="roundRect">
            <a:avLst>
              <a:gd name="adj" fmla="val 12000"/>
            </a:avLst>
          </a:prstGeom>
          <a:solidFill>
            <a:srgbClr val="1F354F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36608" y="1897380"/>
            <a:ext cx="87782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DCDB8"/>
                </a:solidFill>
                <a:latin typeface="Aptos"/>
              </a:rPr>
              <a:t>REFACTOR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2359152"/>
            <a:ext cx="2240280" cy="5539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40" b="0" dirty="0">
                <a:solidFill>
                  <a:srgbClr val="F5F8FC"/>
                </a:solidFill>
                <a:latin typeface="Aptos"/>
              </a:rPr>
              <a:t>T2 refactor: added the availability guard and </a:t>
            </a:r>
            <a:r>
              <a:rPr sz="1040" b="0" dirty="0" err="1">
                <a:solidFill>
                  <a:srgbClr val="F5F8FC"/>
                </a:solidFill>
                <a:latin typeface="Aptos"/>
              </a:rPr>
              <a:t>BookBorrowed</a:t>
            </a:r>
            <a:r>
              <a:rPr sz="1040" b="0" dirty="0">
                <a:solidFill>
                  <a:srgbClr val="F5F8FC"/>
                </a:solidFill>
                <a:latin typeface="Aptos"/>
              </a:rPr>
              <a:t> event; behavior still passed</a:t>
            </a:r>
            <a:r>
              <a:rPr sz="1040" b="0" dirty="0" smtClean="0">
                <a:solidFill>
                  <a:srgbClr val="F5F8FC"/>
                </a:solidFill>
                <a:latin typeface="Aptos"/>
              </a:rPr>
              <a:t>..</a:t>
            </a:r>
            <a:endParaRPr sz="1040" b="0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400032" y="3749039"/>
            <a:ext cx="224028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>
                <a:solidFill>
                  <a:srgbClr val="B1C0D3"/>
                </a:solidFill>
                <a:latin typeface="Aptos"/>
              </a:rPr>
              <a:t>evidence/tdd_t3_refactor.txt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5F8FC"/>
                </a:solidFill>
                <a:latin typeface="Aptos"/>
              </a:rPr>
              <a:t>Use Case Walkthrough: From Request to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1C0D3"/>
                </a:solidFill>
                <a:latin typeface="Aptos"/>
              </a:rPr>
              <a:t>Slide Lead: Member 3 (Architecture Lead)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B1C0D3"/>
                </a:solidFill>
                <a:latin typeface="Aptos"/>
              </a:rPr>
              <a:t>LIBRARY BORROWING SYSTEM  |  DDD ? TDD ? CLEAN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6692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2DCDB8"/>
                </a:solidFill>
                <a:latin typeface="Aptos"/>
              </a:rPr>
              <a:t>13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364224"/>
            <a:ext cx="11109960" cy="0"/>
          </a:xfrm>
          <a:prstGeom prst="line">
            <a:avLst/>
          </a:prstGeom>
          <a:ln w="10160">
            <a:solidFill>
              <a:srgbClr val="1F3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1225296"/>
            <a:ext cx="1069848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BE5C"/>
                </a:solidFill>
                <a:latin typeface="Aptos"/>
              </a:rPr>
              <a:t>Step-by-Step Execution: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618488"/>
            <a:ext cx="10652760" cy="530352"/>
          </a:xfrm>
          <a:prstGeom prst="roundRect">
            <a:avLst>
              <a:gd name="adj" fmla="val 12000"/>
            </a:avLst>
          </a:prstGeom>
          <a:solidFill>
            <a:srgbClr val="1F354F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53312" y="1682496"/>
            <a:ext cx="9985248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F5F8FC"/>
                </a:solidFill>
                <a:latin typeface="Aptos"/>
              </a:rPr>
              <a:t>User request: A borrow request is sent with the borrower ID (ST001) and copy ID (BI001).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276856"/>
            <a:ext cx="384048" cy="365760"/>
          </a:xfrm>
          <a:prstGeom prst="roundRect">
            <a:avLst>
              <a:gd name="adj" fmla="val 12000"/>
            </a:avLst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2299716"/>
            <a:ext cx="310896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1C30"/>
                </a:solidFill>
                <a:latin typeface="Aptos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53312" y="2276856"/>
            <a:ext cx="9985248" cy="365760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99616" y="2295144"/>
            <a:ext cx="969264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5F8FC"/>
                </a:solidFill>
                <a:latin typeface="Aptos"/>
              </a:rPr>
              <a:t>Lookup (BR6): The service finds the book copy and the account in storage.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779776"/>
            <a:ext cx="384048" cy="365760"/>
          </a:xfrm>
          <a:prstGeom prst="roundRect">
            <a:avLst>
              <a:gd name="adj" fmla="val 12000"/>
            </a:avLst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" y="2802636"/>
            <a:ext cx="310896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1C30"/>
                </a:solidFill>
                <a:latin typeface="Aptos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53312" y="2779776"/>
            <a:ext cx="9985248" cy="365760"/>
          </a:xfrm>
          <a:prstGeom prst="roundRect">
            <a:avLst>
              <a:gd name="adj" fmla="val 12000"/>
            </a:avLst>
          </a:prstGeom>
          <a:solidFill>
            <a:srgbClr val="1F354F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99616" y="2798064"/>
            <a:ext cx="969264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5F8FC"/>
                </a:solidFill>
                <a:latin typeface="Aptos"/>
              </a:rPr>
              <a:t>Due date (BR4): LoanDueDateService works out the due date (today + 14 days).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282696"/>
            <a:ext cx="384048" cy="365760"/>
          </a:xfrm>
          <a:prstGeom prst="roundRect">
            <a:avLst>
              <a:gd name="adj" fmla="val 12000"/>
            </a:avLst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3305556"/>
            <a:ext cx="310896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1C30"/>
                </a:solidFill>
                <a:latin typeface="Aptos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53312" y="3282696"/>
            <a:ext cx="9985248" cy="365760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99616" y="3300984"/>
            <a:ext cx="969264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5F8FC"/>
                </a:solidFill>
                <a:latin typeface="Aptos"/>
              </a:rPr>
              <a:t>Status update (BR2): BookItem checks it is available, becomes BORROWED and raises BookBorrowed.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785616"/>
            <a:ext cx="384048" cy="365760"/>
          </a:xfrm>
          <a:prstGeom prst="roundRect">
            <a:avLst>
              <a:gd name="adj" fmla="val 12000"/>
            </a:avLst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9536" y="3808476"/>
            <a:ext cx="310896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1C30"/>
                </a:solidFill>
                <a:latin typeface="Aptos"/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53312" y="3785616"/>
            <a:ext cx="9985248" cy="365760"/>
          </a:xfrm>
          <a:prstGeom prst="roundRect">
            <a:avLst>
              <a:gd name="adj" fmla="val 12000"/>
            </a:avLst>
          </a:prstGeom>
          <a:solidFill>
            <a:srgbClr val="1F354F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99616" y="3803904"/>
            <a:ext cx="969264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5F8FC"/>
                </a:solidFill>
                <a:latin typeface="Aptos"/>
              </a:rPr>
              <a:t>Event handling (BR5): BookBorrowedHandler catches the event and calls BorrowerAccount.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288536"/>
            <a:ext cx="384048" cy="365760"/>
          </a:xfrm>
          <a:prstGeom prst="roundRect">
            <a:avLst>
              <a:gd name="adj" fmla="val 12000"/>
            </a:avLst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9536" y="4311396"/>
            <a:ext cx="310896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1C30"/>
                </a:solidFill>
                <a:latin typeface="Aptos"/>
              </a:rPr>
              <a:t>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53312" y="4288536"/>
            <a:ext cx="9985248" cy="365760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99616" y="4306824"/>
            <a:ext cx="969264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5F8FC"/>
                </a:solidFill>
                <a:latin typeface="Aptos"/>
              </a:rPr>
              <a:t>Limit check (BR3): BorrowerAccount checks that active loans are below the limit.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791456"/>
            <a:ext cx="384048" cy="365760"/>
          </a:xfrm>
          <a:prstGeom prst="roundRect">
            <a:avLst>
              <a:gd name="adj" fmla="val 12000"/>
            </a:avLst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9536" y="4814316"/>
            <a:ext cx="310896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1C30"/>
                </a:solidFill>
                <a:latin typeface="Aptos"/>
              </a:rPr>
              <a:t>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53312" y="4791456"/>
            <a:ext cx="9985248" cy="365760"/>
          </a:xfrm>
          <a:prstGeom prst="roundRect">
            <a:avLst>
              <a:gd name="adj" fmla="val 12000"/>
            </a:avLst>
          </a:prstGeom>
          <a:solidFill>
            <a:srgbClr val="1F354F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499616" y="4809744"/>
            <a:ext cx="969264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5F8FC"/>
                </a:solidFill>
                <a:latin typeface="Aptos"/>
              </a:rPr>
              <a:t>Saving: The updated book and account are saved.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294376"/>
            <a:ext cx="384048" cy="365760"/>
          </a:xfrm>
          <a:prstGeom prst="roundRect">
            <a:avLst>
              <a:gd name="adj" fmla="val 12000"/>
            </a:avLst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9536" y="5317236"/>
            <a:ext cx="310896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1C30"/>
                </a:solidFill>
                <a:latin typeface="Aptos"/>
              </a:rPr>
              <a:t>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53312" y="5294376"/>
            <a:ext cx="9985248" cy="365760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499616" y="5312664"/>
            <a:ext cx="969264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5F8FC"/>
                </a:solidFill>
                <a:latin typeface="Aptos"/>
              </a:rPr>
              <a:t>Response: The service returns a success message with the due date.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1700784"/>
            <a:ext cx="384048" cy="365760"/>
          </a:xfrm>
          <a:prstGeom prst="roundRect">
            <a:avLst>
              <a:gd name="adj" fmla="val 12000"/>
            </a:avLst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9536" y="1723644"/>
            <a:ext cx="310896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0F1C3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5F8FC"/>
                </a:solidFill>
                <a:latin typeface="Aptos"/>
              </a:rPr>
              <a:t>Design Choice Rejected or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1C0D3"/>
                </a:solidFill>
                <a:latin typeface="Aptos"/>
              </a:rPr>
              <a:t>Slide Lead: Member 4 (Testing &amp; Integration Lead)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B1C0D3"/>
                </a:solidFill>
                <a:latin typeface="Aptos"/>
              </a:rPr>
              <a:t>LIBRARY BORROWING SYSTEM  |  DDD ? TDD ? CLEAN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6692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2DCDB8"/>
                </a:solidFill>
                <a:latin typeface="Aptos"/>
              </a:rPr>
              <a:t>14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364224"/>
            <a:ext cx="11109960" cy="0"/>
          </a:xfrm>
          <a:prstGeom prst="line">
            <a:avLst/>
          </a:prstGeom>
          <a:ln w="10160">
            <a:solidFill>
              <a:srgbClr val="1F3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13232" y="1280160"/>
            <a:ext cx="10771632" cy="1170432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389888"/>
            <a:ext cx="10332720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BE5C"/>
                </a:solidFill>
                <a:latin typeface="Aptos"/>
              </a:rPr>
              <a:t>Design Choice Rejected: Direct Aggregate-to-Aggregate Mutation.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10512"/>
            <a:ext cx="10332720" cy="5120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F5F8FC"/>
                </a:solidFill>
                <a:latin typeface="Aptos"/>
              </a:rPr>
              <a:t>Alternative considered: Letting BookItem change the loan list inside BorrowerAccount directly.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633472"/>
            <a:ext cx="1042416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DCDB8"/>
                </a:solidFill>
                <a:latin typeface="Aptos"/>
              </a:rPr>
              <a:t>Why Rejected?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" y="3054096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072384"/>
            <a:ext cx="31089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1C30"/>
                </a:solidFill>
                <a:latin typeface="Aptos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89888" y="3054096"/>
            <a:ext cx="9921240" cy="393192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45336" y="3067812"/>
            <a:ext cx="9601200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5F8FC"/>
                </a:solidFill>
                <a:latin typeface="Aptos"/>
              </a:rPr>
              <a:t>Breaks aggregate boundaries: Aggregates must stay independent of each other.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" y="3639312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3657600"/>
            <a:ext cx="31089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1C30"/>
                </a:solidFill>
                <a:latin typeface="Aptos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89888" y="3639312"/>
            <a:ext cx="9921240" cy="393192"/>
          </a:xfrm>
          <a:prstGeom prst="roundRect">
            <a:avLst>
              <a:gd name="adj" fmla="val 12000"/>
            </a:avLst>
          </a:prstGeom>
          <a:solidFill>
            <a:srgbClr val="1F354F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45336" y="3653028"/>
            <a:ext cx="9601200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5F8FC"/>
                </a:solidFill>
                <a:latin typeface="Aptos"/>
              </a:rPr>
              <a:t>Too much coupling: BookItem would depend on the inside of BorrowerAccount.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" y="422452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4242816"/>
            <a:ext cx="31089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1C30"/>
                </a:solidFill>
                <a:latin typeface="Aptos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89888" y="4224528"/>
            <a:ext cx="9921240" cy="393192"/>
          </a:xfrm>
          <a:prstGeom prst="roundRect">
            <a:avLst>
              <a:gd name="adj" fmla="val 12000"/>
            </a:avLst>
          </a:prstGeom>
          <a:solidFill>
            <a:srgbClr val="192B43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45336" y="4238244"/>
            <a:ext cx="9601200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F5F8FC"/>
                </a:solidFill>
                <a:latin typeface="Aptos"/>
              </a:rPr>
              <a:t>Bypasses the rules: Loans could be added without the limit check (BR3).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" y="5010912"/>
            <a:ext cx="10561320" cy="822960"/>
          </a:xfrm>
          <a:prstGeom prst="roundRect">
            <a:avLst>
              <a:gd name="adj" fmla="val 12000"/>
            </a:avLst>
          </a:prstGeom>
          <a:solidFill>
            <a:srgbClr val="224B53"/>
          </a:solidFill>
          <a:ln>
            <a:solidFill>
              <a:srgbClr val="224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093208"/>
            <a:ext cx="1014984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10" b="1">
                <a:solidFill>
                  <a:srgbClr val="66DA9D"/>
                </a:solidFill>
                <a:latin typeface="Aptos"/>
              </a:rPr>
              <a:t>Selected Solution: Domain Events (BookBorrowed + BookBorrowedHandler). Aggregates stay separate and protected.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CDB8"/>
          </a:solidFill>
          <a:ln>
            <a:solidFill>
              <a:srgbClr val="2D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dirty="0">
                <a:solidFill>
                  <a:srgbClr val="F5F8FC"/>
                </a:solidFill>
                <a:latin typeface="Aptos"/>
              </a:rPr>
              <a:t>Traceability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95528"/>
            <a:ext cx="10972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1C0D3"/>
                </a:solidFill>
                <a:latin typeface="Aptos"/>
              </a:rPr>
              <a:t>One story across rules, implementation, tests, and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B1C0D3"/>
                </a:solidFill>
                <a:latin typeface="Aptos"/>
              </a:rPr>
              <a:t>LIBRARY BORROWING SYSTEM  |  DDD ? TDD ? CLEAN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37376"/>
            <a:ext cx="56692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2DCDB8"/>
                </a:solidFill>
                <a:latin typeface="Aptos"/>
              </a:rPr>
              <a:t>15 / 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364224"/>
            <a:ext cx="11109960" cy="0"/>
          </a:xfrm>
          <a:prstGeom prst="line">
            <a:avLst/>
          </a:prstGeom>
          <a:ln w="10160">
            <a:solidFill>
              <a:srgbClr val="1F35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280160"/>
            <a:ext cx="713232" cy="356616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19" y="1316736"/>
            <a:ext cx="566928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2DCDB8"/>
                </a:solidFill>
                <a:latin typeface="Aptos"/>
              </a:rPr>
              <a:t>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8176" y="1280160"/>
            <a:ext cx="2560320" cy="356616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81328" y="1316736"/>
            <a:ext cx="2414015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2DCDB8"/>
                </a:solidFill>
                <a:latin typeface="Aptos"/>
              </a:rPr>
              <a:t>CONCEPT /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05072" y="1280160"/>
            <a:ext cx="3721608" cy="356616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78224" y="1316736"/>
            <a:ext cx="3575304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2DCDB8"/>
                </a:solidFill>
                <a:latin typeface="Aptos"/>
              </a:rPr>
              <a:t>TEST EVIDENCE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63256" y="1280160"/>
            <a:ext cx="1115568" cy="356616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8" y="1316736"/>
            <a:ext cx="969264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2DCDB8"/>
                </a:solidFill>
                <a:latin typeface="Aptos"/>
              </a:rPr>
              <a:t>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33688" y="1280160"/>
            <a:ext cx="2587752" cy="356616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6840" y="1316736"/>
            <a:ext cx="2441448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2DCDB8"/>
                </a:solidFill>
                <a:latin typeface="Aptos"/>
              </a:rPr>
              <a:t>VIOLATION OUTCOME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1682496"/>
            <a:ext cx="713232" cy="475488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19" y="1719072"/>
            <a:ext cx="566928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BE5C"/>
                </a:solidFill>
                <a:latin typeface="Aptos"/>
              </a:rPr>
              <a:t>BR1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8176" y="1682496"/>
            <a:ext cx="2560320" cy="475488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81328" y="1719072"/>
            <a:ext cx="2414015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Aptos"/>
              </a:rPr>
              <a:t>ISBN value object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5072" y="1682496"/>
            <a:ext cx="3721608" cy="475488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78224" y="1719072"/>
            <a:ext cx="3575304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Aptos"/>
              </a:rPr>
              <a:t>T1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63256" y="1682496"/>
            <a:ext cx="1115568" cy="475488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36408" y="1719072"/>
            <a:ext cx="969264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6DA9D"/>
                </a:solidFill>
                <a:latin typeface="Aptos"/>
              </a:rPr>
              <a:t>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33688" y="1682496"/>
            <a:ext cx="2587752" cy="475488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06840" y="1719072"/>
            <a:ext cx="2441448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Aptos"/>
              </a:rPr>
              <a:t>Invalid ISBN rejected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2212848"/>
            <a:ext cx="713232" cy="475488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19" y="2249424"/>
            <a:ext cx="566928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BE5C"/>
                </a:solidFill>
                <a:latin typeface="Aptos"/>
              </a:rPr>
              <a:t>BR2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08176" y="2212848"/>
            <a:ext cx="2560320" cy="475488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481328" y="2249424"/>
            <a:ext cx="2414015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Aptos"/>
              </a:rPr>
              <a:t>BookItem aggregate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05072" y="2212848"/>
            <a:ext cx="3721608" cy="475488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078224" y="2249424"/>
            <a:ext cx="3575304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Aptos"/>
              </a:rPr>
              <a:t>T2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63256" y="2212848"/>
            <a:ext cx="1115568" cy="475488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36408" y="2249424"/>
            <a:ext cx="969264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6DA9D"/>
                </a:solidFill>
                <a:latin typeface="Aptos"/>
              </a:rPr>
              <a:t>PASS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33688" y="2212848"/>
            <a:ext cx="2587752" cy="475488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006840" y="2249424"/>
            <a:ext cx="2441448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Aptos"/>
              </a:rPr>
              <a:t>Unavailable copy rejected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2743200"/>
            <a:ext cx="713232" cy="475488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19" y="2779776"/>
            <a:ext cx="566928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BE5C"/>
                </a:solidFill>
                <a:latin typeface="Aptos"/>
              </a:rPr>
              <a:t>BR3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08176" y="2743200"/>
            <a:ext cx="2560320" cy="475488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481328" y="2779776"/>
            <a:ext cx="2414015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Aptos"/>
              </a:rPr>
              <a:t>BorrowerAccount aggregate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05072" y="2743200"/>
            <a:ext cx="3721608" cy="475488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078224" y="2779776"/>
            <a:ext cx="3575304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Aptos"/>
              </a:rPr>
              <a:t>T3, T8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63256" y="2743200"/>
            <a:ext cx="1115568" cy="475488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836408" y="2779776"/>
            <a:ext cx="969264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6DA9D"/>
                </a:solidFill>
                <a:latin typeface="Aptos"/>
              </a:rPr>
              <a:t>PASS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33688" y="2743200"/>
            <a:ext cx="2587752" cy="475488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06840" y="2779776"/>
            <a:ext cx="2441448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Aptos"/>
              </a:rPr>
              <a:t>Limit breach rejected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3273552"/>
            <a:ext cx="713232" cy="475488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1519" y="3310128"/>
            <a:ext cx="566928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BE5C"/>
                </a:solidFill>
                <a:latin typeface="Aptos"/>
              </a:rPr>
              <a:t>BR4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08176" y="3273552"/>
            <a:ext cx="2560320" cy="475488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481328" y="3310128"/>
            <a:ext cx="2414015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Aptos"/>
              </a:rPr>
              <a:t>LoanDueDateService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05072" y="3273552"/>
            <a:ext cx="3721608" cy="475488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078224" y="3310128"/>
            <a:ext cx="3575304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Aptos"/>
              </a:rPr>
              <a:t>T4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63256" y="3273552"/>
            <a:ext cx="1115568" cy="475488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836408" y="3310128"/>
            <a:ext cx="969264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6DA9D"/>
                </a:solidFill>
                <a:latin typeface="Aptos"/>
              </a:rPr>
              <a:t>PASS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33688" y="3273552"/>
            <a:ext cx="2587752" cy="475488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006840" y="3310128"/>
            <a:ext cx="2441448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Aptos"/>
              </a:rPr>
              <a:t>Missing policy raises error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" y="3803904"/>
            <a:ext cx="713232" cy="475488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31519" y="3840480"/>
            <a:ext cx="566928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BE5C"/>
                </a:solidFill>
                <a:latin typeface="Aptos"/>
              </a:rPr>
              <a:t>BR5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408176" y="3803904"/>
            <a:ext cx="2560320" cy="475488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481328" y="3840480"/>
            <a:ext cx="2414015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Aptos"/>
              </a:rPr>
              <a:t>BookBorrowed + handler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05072" y="3803904"/>
            <a:ext cx="3721608" cy="475488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078224" y="3840480"/>
            <a:ext cx="3575304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Aptos"/>
              </a:rPr>
              <a:t>T5, T7, T8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63256" y="3803904"/>
            <a:ext cx="1115568" cy="475488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836408" y="3840480"/>
            <a:ext cx="969264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6DA9D"/>
                </a:solidFill>
                <a:latin typeface="Aptos"/>
              </a:rPr>
              <a:t>PASS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33688" y="3803904"/>
            <a:ext cx="2587752" cy="475488"/>
          </a:xfrm>
          <a:prstGeom prst="rect">
            <a:avLst/>
          </a:prstGeom>
          <a:solidFill>
            <a:srgbClr val="192B43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006840" y="3840480"/>
            <a:ext cx="2441448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Aptos"/>
              </a:rPr>
              <a:t>Follow-up accepted/rejected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8368" y="4334256"/>
            <a:ext cx="713232" cy="475488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31519" y="4370832"/>
            <a:ext cx="566928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BE5C"/>
                </a:solidFill>
                <a:latin typeface="Aptos"/>
              </a:rPr>
              <a:t>BR6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408176" y="4334256"/>
            <a:ext cx="2560320" cy="475488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481328" y="4370832"/>
            <a:ext cx="2414015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Aptos"/>
              </a:rPr>
              <a:t>Repository + application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005072" y="4334256"/>
            <a:ext cx="3721608" cy="475488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078224" y="4370832"/>
            <a:ext cx="3575304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Aptos"/>
              </a:rPr>
              <a:t>T6, T7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763256" y="4334256"/>
            <a:ext cx="1115568" cy="475488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836408" y="4370832"/>
            <a:ext cx="969264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6DA9D"/>
                </a:solidFill>
                <a:latin typeface="Aptos"/>
              </a:rPr>
              <a:t>PASS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33688" y="4334256"/>
            <a:ext cx="2587752" cy="475488"/>
          </a:xfrm>
          <a:prstGeom prst="rect">
            <a:avLst/>
          </a:prstGeom>
          <a:solidFill>
            <a:srgbClr val="1F354F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006840" y="4370832"/>
            <a:ext cx="2441448" cy="4023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5F8FC"/>
                </a:solidFill>
                <a:latin typeface="Aptos"/>
              </a:rPr>
              <a:t>Missing item stops workflow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49808" y="5056632"/>
            <a:ext cx="10698480" cy="685800"/>
          </a:xfrm>
          <a:prstGeom prst="roundRect">
            <a:avLst>
              <a:gd name="adj" fmla="val 12000"/>
            </a:avLst>
          </a:prstGeom>
          <a:solidFill>
            <a:srgbClr val="1F354F"/>
          </a:solidFill>
          <a:ln>
            <a:solidFill>
              <a:srgbClr val="1F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41832" y="4922566"/>
            <a:ext cx="10314432" cy="93564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r>
              <a:rPr lang="en-US" sz="1400" b="1" u="sng" dirty="0">
                <a:solidFill>
                  <a:schemeClr val="bg2"/>
                </a:solidFill>
              </a:rPr>
              <a:t>Final Conclusion: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/>
                </a:solidFill>
              </a:rPr>
              <a:t>Clean separation of concerns across the Domain, Application, Infrastructure and Interface layers.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/>
                </a:solidFill>
              </a:rPr>
              <a:t>All business rules are protected inside domain objects and verified by automated tests.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2"/>
                </a:solidFill>
              </a:rPr>
              <a:t>The solution is concise, fully traceable and easy to defend</a:t>
            </a:r>
            <a:r>
              <a:rPr lang="en-US" sz="1200" dirty="0">
                <a:solidFill>
                  <a:schemeClr val="bg2"/>
                </a:solidFill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1721</Words>
  <Application>Microsoft Office PowerPoint</Application>
  <PresentationFormat>Widescreen</PresentationFormat>
  <Paragraphs>299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Borrowing System - DDD, TDD and Clean Architecture</dc:title>
  <dc:subject>Group coursework presentation aligned to the 15-slide brief</dc:subject>
  <dc:creator>Library Borrowing System coursework group</dc:creator>
  <cp:keywords>DDD, TDD, Clean Architecture, library borrowing</cp:keywords>
  <dc:description>generated using python-pptx</dc:description>
  <cp:lastModifiedBy>Microsoft account</cp:lastModifiedBy>
  <cp:revision>15</cp:revision>
  <dcterms:created xsi:type="dcterms:W3CDTF">2013-01-27T09:14:16Z</dcterms:created>
  <dcterms:modified xsi:type="dcterms:W3CDTF">2026-10-09T10:24:20Z</dcterms:modified>
  <cp:category/>
</cp:coreProperties>
</file>